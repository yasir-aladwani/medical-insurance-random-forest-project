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75" y="4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297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2B"/>
        </a:solidFill>
        <a:effectLst/>
      </p:bgPr>
    </p:bg>
    <p:spTree>
      <p:nvGrpSpPr>
        <p:cNvPr id="1" name=""/>
        <p:cNvGrpSpPr/>
        <p:nvPr/>
      </p:nvGrpSpPr>
      <p:grpSpPr>
        <a:xfrm>
          <a:off x="0" y="0"/>
          <a:ext cx="0" cy="0"/>
          <a:chOff x="0" y="0"/>
          <a:chExt cx="0" cy="0"/>
        </a:xfrm>
      </p:grpSpPr>
      <p:sp>
        <p:nvSpPr>
          <p:cNvPr id="2" name="Shape 0"/>
          <p:cNvSpPr/>
          <p:nvPr/>
        </p:nvSpPr>
        <p:spPr>
          <a:xfrm>
            <a:off x="6492240" y="0"/>
            <a:ext cx="2651760" cy="5143500"/>
          </a:xfrm>
          <a:prstGeom prst="rect">
            <a:avLst/>
          </a:prstGeom>
          <a:solidFill>
            <a:srgbClr val="2C5F2D"/>
          </a:solidFill>
          <a:ln w="12700">
            <a:solidFill>
              <a:srgbClr val="2C5F2D"/>
            </a:solidFill>
            <a:prstDash val="solid"/>
          </a:ln>
        </p:spPr>
        <p:txBody>
          <a:bodyPr/>
          <a:lstStyle/>
          <a:p>
            <a:endParaRPr lang="en-US"/>
          </a:p>
        </p:txBody>
      </p:sp>
      <p:sp>
        <p:nvSpPr>
          <p:cNvPr id="3" name="Shape 1"/>
          <p:cNvSpPr/>
          <p:nvPr/>
        </p:nvSpPr>
        <p:spPr>
          <a:xfrm>
            <a:off x="7223760" y="0"/>
            <a:ext cx="1920240" cy="5143500"/>
          </a:xfrm>
          <a:prstGeom prst="rect">
            <a:avLst/>
          </a:prstGeom>
          <a:solidFill>
            <a:srgbClr val="4A7C59"/>
          </a:solidFill>
          <a:ln w="12700">
            <a:solidFill>
              <a:srgbClr val="4A7C59"/>
            </a:solidFill>
            <a:prstDash val="solid"/>
          </a:ln>
        </p:spPr>
        <p:txBody>
          <a:bodyPr/>
          <a:lstStyle/>
          <a:p>
            <a:endParaRPr lang="en-US"/>
          </a:p>
        </p:txBody>
      </p:sp>
      <p:sp>
        <p:nvSpPr>
          <p:cNvPr id="4" name="Shape 2"/>
          <p:cNvSpPr/>
          <p:nvPr/>
        </p:nvSpPr>
        <p:spPr>
          <a:xfrm>
            <a:off x="457200" y="320040"/>
            <a:ext cx="73152" cy="4480560"/>
          </a:xfrm>
          <a:prstGeom prst="rect">
            <a:avLst/>
          </a:prstGeom>
          <a:solidFill>
            <a:srgbClr val="C8963E"/>
          </a:solidFill>
          <a:ln w="12700">
            <a:solidFill>
              <a:srgbClr val="C8963E"/>
            </a:solidFill>
            <a:prstDash val="solid"/>
          </a:ln>
        </p:spPr>
        <p:txBody>
          <a:bodyPr/>
          <a:lstStyle/>
          <a:p>
            <a:endParaRPr lang="en-US"/>
          </a:p>
        </p:txBody>
      </p:sp>
      <p:sp>
        <p:nvSpPr>
          <p:cNvPr id="7" name="Text 4"/>
          <p:cNvSpPr/>
          <p:nvPr/>
        </p:nvSpPr>
        <p:spPr>
          <a:xfrm>
            <a:off x="685800" y="1170432"/>
            <a:ext cx="5577840" cy="475488"/>
          </a:xfrm>
          <a:prstGeom prst="rect">
            <a:avLst/>
          </a:prstGeom>
          <a:noFill/>
          <a:ln/>
        </p:spPr>
        <p:txBody>
          <a:bodyPr wrap="square" lIns="0" tIns="0" rIns="0" bIns="0" rtlCol="0" anchor="ctr"/>
          <a:lstStyle/>
          <a:p>
            <a:pPr marL="0" indent="0">
              <a:buNone/>
            </a:pPr>
            <a:r>
              <a:rPr lang="en-US" sz="1200" b="1" kern="0" spc="400" dirty="0">
                <a:solidFill>
                  <a:srgbClr val="C8963E"/>
                </a:solidFill>
                <a:latin typeface="Calibri" pitchFamily="34" charset="0"/>
                <a:ea typeface="Calibri" pitchFamily="34" charset="-122"/>
                <a:cs typeface="Calibri" pitchFamily="34" charset="-120"/>
              </a:rPr>
              <a:t>RANDOM FOREST</a:t>
            </a:r>
            <a:endParaRPr lang="en-US" sz="1200" dirty="0"/>
          </a:p>
        </p:txBody>
      </p:sp>
      <p:sp>
        <p:nvSpPr>
          <p:cNvPr id="8" name="Text 5"/>
          <p:cNvSpPr/>
          <p:nvPr/>
        </p:nvSpPr>
        <p:spPr>
          <a:xfrm>
            <a:off x="685800" y="1627632"/>
            <a:ext cx="5577840" cy="1051560"/>
          </a:xfrm>
          <a:prstGeom prst="rect">
            <a:avLst/>
          </a:prstGeom>
          <a:noFill/>
          <a:ln/>
        </p:spPr>
        <p:txBody>
          <a:bodyPr wrap="square" lIns="0" tIns="0" rIns="0" bIns="0" rtlCol="0" anchor="ctr"/>
          <a:lstStyle/>
          <a:p>
            <a:pPr marL="0" indent="0" algn="l">
              <a:buNone/>
            </a:pPr>
            <a:r>
              <a:rPr lang="en-US" sz="5200" b="1" dirty="0">
                <a:solidFill>
                  <a:srgbClr val="FFFFFF"/>
                </a:solidFill>
                <a:latin typeface="Georgia" pitchFamily="34" charset="0"/>
                <a:ea typeface="Georgia" pitchFamily="34" charset="-122"/>
                <a:cs typeface="Georgia" pitchFamily="34" charset="-120"/>
              </a:rPr>
              <a:t>Regression</a:t>
            </a:r>
            <a:endParaRPr lang="en-US" sz="5200" dirty="0"/>
          </a:p>
        </p:txBody>
      </p:sp>
      <p:sp>
        <p:nvSpPr>
          <p:cNvPr id="9" name="Text 6"/>
          <p:cNvSpPr/>
          <p:nvPr/>
        </p:nvSpPr>
        <p:spPr>
          <a:xfrm>
            <a:off x="685800" y="2724912"/>
            <a:ext cx="5577840" cy="438912"/>
          </a:xfrm>
          <a:prstGeom prst="rect">
            <a:avLst/>
          </a:prstGeom>
          <a:noFill/>
          <a:ln/>
        </p:spPr>
        <p:txBody>
          <a:bodyPr wrap="square" lIns="0" tIns="0" rIns="0" bIns="0" rtlCol="0" anchor="ctr"/>
          <a:lstStyle/>
          <a:p>
            <a:pPr marL="0" indent="0" algn="l">
              <a:buNone/>
            </a:pPr>
            <a:r>
              <a:rPr lang="en-US" sz="1700" dirty="0">
                <a:solidFill>
                  <a:srgbClr val="A8C5B5"/>
                </a:solidFill>
                <a:latin typeface="Calibri" pitchFamily="34" charset="0"/>
                <a:ea typeface="Calibri" pitchFamily="34" charset="-122"/>
                <a:cs typeface="Calibri" pitchFamily="34" charset="-120"/>
              </a:rPr>
              <a:t>Medical Insurance Cost Prediction</a:t>
            </a:r>
            <a:endParaRPr lang="en-US" sz="1700" dirty="0"/>
          </a:p>
        </p:txBody>
      </p:sp>
      <p:sp>
        <p:nvSpPr>
          <p:cNvPr id="10" name="Shape 7"/>
          <p:cNvSpPr/>
          <p:nvPr/>
        </p:nvSpPr>
        <p:spPr>
          <a:xfrm>
            <a:off x="685800" y="3246120"/>
            <a:ext cx="5303520" cy="27432"/>
          </a:xfrm>
          <a:prstGeom prst="rect">
            <a:avLst/>
          </a:prstGeom>
          <a:solidFill>
            <a:srgbClr val="3A6B4A"/>
          </a:solidFill>
          <a:ln w="12700">
            <a:solidFill>
              <a:srgbClr val="3A6B4A"/>
            </a:solidFill>
            <a:prstDash val="solid"/>
          </a:ln>
        </p:spPr>
        <p:txBody>
          <a:bodyPr/>
          <a:lstStyle/>
          <a:p>
            <a:endParaRPr lang="en-US"/>
          </a:p>
        </p:txBody>
      </p:sp>
      <p:sp>
        <p:nvSpPr>
          <p:cNvPr id="11" name="Text 8"/>
          <p:cNvSpPr/>
          <p:nvPr/>
        </p:nvSpPr>
        <p:spPr>
          <a:xfrm>
            <a:off x="685800" y="3337560"/>
            <a:ext cx="2743200" cy="256032"/>
          </a:xfrm>
          <a:prstGeom prst="rect">
            <a:avLst/>
          </a:prstGeom>
          <a:noFill/>
          <a:ln/>
        </p:spPr>
        <p:txBody>
          <a:bodyPr wrap="square" lIns="0" tIns="0" rIns="0" bIns="0" rtlCol="0" anchor="ctr"/>
          <a:lstStyle/>
          <a:p>
            <a:pPr marL="0" indent="0">
              <a:buNone/>
            </a:pPr>
            <a:r>
              <a:rPr lang="en-US" sz="900" b="1" kern="0" spc="150" dirty="0">
                <a:solidFill>
                  <a:srgbClr val="C8963E"/>
                </a:solidFill>
                <a:latin typeface="Calibri" pitchFamily="34" charset="0"/>
                <a:ea typeface="Calibri" pitchFamily="34" charset="-122"/>
                <a:cs typeface="Calibri" pitchFamily="34" charset="-120"/>
              </a:rPr>
              <a:t>Team Members</a:t>
            </a:r>
            <a:endParaRPr lang="en-US" sz="900" dirty="0"/>
          </a:p>
        </p:txBody>
      </p:sp>
      <p:sp>
        <p:nvSpPr>
          <p:cNvPr id="12" name="Text 9"/>
          <p:cNvSpPr/>
          <p:nvPr/>
        </p:nvSpPr>
        <p:spPr>
          <a:xfrm>
            <a:off x="685800" y="3630168"/>
            <a:ext cx="5577840" cy="274320"/>
          </a:xfrm>
          <a:prstGeom prst="rect">
            <a:avLst/>
          </a:prstGeom>
          <a:noFill/>
          <a:ln/>
        </p:spPr>
        <p:txBody>
          <a:bodyPr wrap="square" lIns="0" tIns="0" rIns="0" bIns="0"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Abdulrahman Bajunaid  ·  Mansour Alhenaki  ·  Yasir Aladwani</a:t>
            </a:r>
            <a:endParaRPr lang="en-US" sz="1200" dirty="0"/>
          </a:p>
        </p:txBody>
      </p:sp>
      <p:sp>
        <p:nvSpPr>
          <p:cNvPr id="13" name="Text 10"/>
          <p:cNvSpPr/>
          <p:nvPr/>
        </p:nvSpPr>
        <p:spPr>
          <a:xfrm>
            <a:off x="685800" y="4005072"/>
            <a:ext cx="5577840" cy="256032"/>
          </a:xfrm>
          <a:prstGeom prst="rect">
            <a:avLst/>
          </a:prstGeom>
          <a:noFill/>
          <a:ln/>
        </p:spPr>
        <p:txBody>
          <a:bodyPr wrap="square" lIns="0" tIns="0" rIns="0" bIns="0" rtlCol="0" anchor="ctr"/>
          <a:lstStyle/>
          <a:p>
            <a:pPr marL="0" indent="0" algn="l">
              <a:buNone/>
            </a:pPr>
            <a:r>
              <a:rPr lang="en-US" sz="1050" dirty="0">
                <a:solidFill>
                  <a:srgbClr val="A8C5B5"/>
                </a:solidFill>
                <a:latin typeface="Calibri" pitchFamily="34" charset="0"/>
                <a:ea typeface="Calibri" pitchFamily="34" charset="-122"/>
                <a:cs typeface="Calibri" pitchFamily="34" charset="-120"/>
              </a:rPr>
              <a:t>Instructor: Khulud Alshammari   |   Teaching Assistant: Abdullah Alharbi</a:t>
            </a:r>
            <a:endParaRPr lang="en-US" sz="1050" dirty="0"/>
          </a:p>
        </p:txBody>
      </p:sp>
      <p:sp>
        <p:nvSpPr>
          <p:cNvPr id="14" name="Text 11"/>
          <p:cNvSpPr/>
          <p:nvPr/>
        </p:nvSpPr>
        <p:spPr>
          <a:xfrm>
            <a:off x="685800" y="4462272"/>
            <a:ext cx="5577840" cy="25603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Machine Learning Mini Project  ·  Scikit-learn  ·  Kaggle Dataset</a:t>
            </a:r>
            <a:endParaRPr lang="en-US" sz="950" dirty="0"/>
          </a:p>
        </p:txBody>
      </p:sp>
      <p:pic>
        <p:nvPicPr>
          <p:cNvPr id="15" name="Picture 2" descr="شعار أكاديمية طويق | شعارات المملكة">
            <a:extLst>
              <a:ext uri="{FF2B5EF4-FFF2-40B4-BE49-F238E27FC236}">
                <a16:creationId xmlns:a16="http://schemas.microsoft.com/office/drawing/2014/main" id="{336240BD-1F49-806F-C565-6CFCE3CDF7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02" t="28893" r="18297" b="26764"/>
          <a:stretch>
            <a:fillRect/>
          </a:stretch>
        </p:blipFill>
        <p:spPr bwMode="auto">
          <a:xfrm>
            <a:off x="946264" y="192642"/>
            <a:ext cx="1253007" cy="8875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C2B"/>
        </a:solidFill>
        <a:effectLst/>
      </p:bgPr>
    </p:bg>
    <p:spTree>
      <p:nvGrpSpPr>
        <p:cNvPr id="1" name=""/>
        <p:cNvGrpSpPr/>
        <p:nvPr/>
      </p:nvGrpSpPr>
      <p:grpSpPr>
        <a:xfrm>
          <a:off x="0" y="0"/>
          <a:ext cx="0" cy="0"/>
          <a:chOff x="0" y="0"/>
          <a:chExt cx="0" cy="0"/>
        </a:xfrm>
      </p:grpSpPr>
      <p:sp>
        <p:nvSpPr>
          <p:cNvPr id="2" name="Text 0"/>
          <p:cNvSpPr/>
          <p:nvPr/>
        </p:nvSpPr>
        <p:spPr>
          <a:xfrm>
            <a:off x="5303520" y="-274320"/>
            <a:ext cx="4114800" cy="5669280"/>
          </a:xfrm>
          <a:prstGeom prst="rect">
            <a:avLst/>
          </a:prstGeom>
          <a:noFill/>
          <a:ln/>
        </p:spPr>
        <p:txBody>
          <a:bodyPr wrap="square" lIns="0" tIns="0" rIns="0" bIns="0" rtlCol="0" anchor="ctr"/>
          <a:lstStyle/>
          <a:p>
            <a:pPr marL="0" indent="0" algn="r">
              <a:buNone/>
            </a:pPr>
            <a:r>
              <a:rPr lang="en-US" sz="24000" b="1" dirty="0">
                <a:solidFill>
                  <a:srgbClr val="2C5F2D"/>
                </a:solidFill>
                <a:latin typeface="Georgia" pitchFamily="34" charset="0"/>
                <a:ea typeface="Georgia" pitchFamily="34" charset="-122"/>
                <a:cs typeface="Georgia" pitchFamily="34" charset="-120"/>
              </a:rPr>
              <a:t>01</a:t>
            </a:r>
            <a:endParaRPr lang="en-US" sz="24000" dirty="0"/>
          </a:p>
        </p:txBody>
      </p:sp>
      <p:sp>
        <p:nvSpPr>
          <p:cNvPr id="3" name="Shape 1"/>
          <p:cNvSpPr/>
          <p:nvPr/>
        </p:nvSpPr>
        <p:spPr>
          <a:xfrm>
            <a:off x="457200" y="1371600"/>
            <a:ext cx="73152" cy="2468880"/>
          </a:xfrm>
          <a:prstGeom prst="rect">
            <a:avLst/>
          </a:prstGeom>
          <a:solidFill>
            <a:srgbClr val="C8963E"/>
          </a:solidFill>
          <a:ln w="12700">
            <a:solidFill>
              <a:srgbClr val="C8963E"/>
            </a:solidFill>
            <a:prstDash val="solid"/>
          </a:ln>
        </p:spPr>
        <p:txBody>
          <a:bodyPr/>
          <a:lstStyle/>
          <a:p>
            <a:endParaRPr lang="en-US"/>
          </a:p>
        </p:txBody>
      </p:sp>
      <p:sp>
        <p:nvSpPr>
          <p:cNvPr id="4" name="Text 2"/>
          <p:cNvSpPr/>
          <p:nvPr/>
        </p:nvSpPr>
        <p:spPr>
          <a:xfrm>
            <a:off x="685800" y="1417320"/>
            <a:ext cx="5029200" cy="1920240"/>
          </a:xfrm>
          <a:prstGeom prst="rect">
            <a:avLst/>
          </a:prstGeom>
          <a:noFill/>
          <a:ln/>
        </p:spPr>
        <p:txBody>
          <a:bodyPr wrap="square" lIns="0" tIns="0" rIns="0" bIns="0" rtlCol="0" anchor="t"/>
          <a:lstStyle/>
          <a:p>
            <a:pPr marL="0" indent="0" algn="l">
              <a:buNone/>
            </a:pPr>
            <a:r>
              <a:rPr lang="en-US" sz="4200" b="1" dirty="0">
                <a:solidFill>
                  <a:srgbClr val="FFFFFF"/>
                </a:solidFill>
                <a:latin typeface="Georgia" pitchFamily="34" charset="0"/>
                <a:ea typeface="Georgia" pitchFamily="34" charset="-122"/>
                <a:cs typeface="Georgia" pitchFamily="34" charset="-120"/>
              </a:rPr>
              <a:t>Algorithm</a:t>
            </a:r>
            <a:endParaRPr lang="en-US" sz="4200" dirty="0"/>
          </a:p>
          <a:p>
            <a:pPr marL="0" indent="0" algn="l">
              <a:buNone/>
            </a:pPr>
            <a:r>
              <a:rPr lang="en-US" sz="4200" b="1" dirty="0">
                <a:solidFill>
                  <a:srgbClr val="FFFFFF"/>
                </a:solidFill>
                <a:latin typeface="Georgia" pitchFamily="34" charset="0"/>
                <a:ea typeface="Georgia" pitchFamily="34" charset="-122"/>
                <a:cs typeface="Georgia" pitchFamily="34" charset="-120"/>
              </a:rPr>
              <a:t>Explanation</a:t>
            </a:r>
            <a:endParaRPr lang="en-US" sz="4200" dirty="0"/>
          </a:p>
        </p:txBody>
      </p:sp>
      <p:sp>
        <p:nvSpPr>
          <p:cNvPr id="5" name="Text 3"/>
          <p:cNvSpPr/>
          <p:nvPr/>
        </p:nvSpPr>
        <p:spPr>
          <a:xfrm>
            <a:off x="685800" y="3429000"/>
            <a:ext cx="5029200" cy="914400"/>
          </a:xfrm>
          <a:prstGeom prst="rect">
            <a:avLst/>
          </a:prstGeom>
          <a:noFill/>
          <a:ln/>
        </p:spPr>
        <p:txBody>
          <a:bodyPr wrap="square" lIns="0" tIns="0" rIns="0" bIns="0" rtlCol="0" anchor="t"/>
          <a:lstStyle/>
          <a:p>
            <a:pPr marL="0" indent="0" algn="l">
              <a:buNone/>
            </a:pPr>
            <a:r>
              <a:rPr lang="en-US" sz="1400" dirty="0">
                <a:solidFill>
                  <a:srgbClr val="A8C5B5"/>
                </a:solidFill>
                <a:latin typeface="Calibri" pitchFamily="34" charset="0"/>
                <a:ea typeface="Calibri" pitchFamily="34" charset="-122"/>
                <a:cs typeface="Calibri" pitchFamily="34" charset="-120"/>
              </a:rPr>
              <a:t>Understanding how Random Forest Regression works under the hood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What is Random Forest?</a:t>
            </a:r>
            <a:endParaRPr lang="en-US" sz="2600" dirty="0"/>
          </a:p>
        </p:txBody>
      </p:sp>
      <p:sp>
        <p:nvSpPr>
          <p:cNvPr id="4" name="Shape 2"/>
          <p:cNvSpPr/>
          <p:nvPr/>
        </p:nvSpPr>
        <p:spPr>
          <a:xfrm>
            <a:off x="365760" y="1097280"/>
            <a:ext cx="8412480" cy="3657600"/>
          </a:xfrm>
          <a:prstGeom prst="rect">
            <a:avLst/>
          </a:prstGeom>
          <a:solidFill>
            <a:srgbClr val="FFFFFF"/>
          </a:solidFill>
          <a:ln w="12700">
            <a:solidFill>
              <a:srgbClr val="E0DDD4"/>
            </a:solidFill>
            <a:prstDash val="solid"/>
          </a:ln>
        </p:spPr>
        <p:txBody>
          <a:bodyPr/>
          <a:lstStyle/>
          <a:p>
            <a:endParaRPr lang="en-US"/>
          </a:p>
        </p:txBody>
      </p:sp>
      <p:sp>
        <p:nvSpPr>
          <p:cNvPr id="5" name="Shape 3"/>
          <p:cNvSpPr/>
          <p:nvPr/>
        </p:nvSpPr>
        <p:spPr>
          <a:xfrm>
            <a:off x="411480" y="1188720"/>
            <a:ext cx="64008" cy="3474720"/>
          </a:xfrm>
          <a:prstGeom prst="rect">
            <a:avLst/>
          </a:prstGeom>
          <a:solidFill>
            <a:srgbClr val="1A3C2B"/>
          </a:solidFill>
          <a:ln w="12700">
            <a:solidFill>
              <a:srgbClr val="1A3C2B"/>
            </a:solidFill>
            <a:prstDash val="solid"/>
          </a:ln>
        </p:spPr>
        <p:txBody>
          <a:bodyPr/>
          <a:lstStyle/>
          <a:p>
            <a:endParaRPr lang="en-US"/>
          </a:p>
        </p:txBody>
      </p:sp>
      <p:sp>
        <p:nvSpPr>
          <p:cNvPr id="6" name="Text 4"/>
          <p:cNvSpPr/>
          <p:nvPr/>
        </p:nvSpPr>
        <p:spPr>
          <a:xfrm>
            <a:off x="594360" y="1207008"/>
            <a:ext cx="7863840" cy="347472"/>
          </a:xfrm>
          <a:prstGeom prst="rect">
            <a:avLst/>
          </a:prstGeom>
          <a:noFill/>
          <a:ln/>
        </p:spPr>
        <p:txBody>
          <a:bodyPr wrap="square" lIns="0" tIns="0" rIns="0" bIns="0" rtlCol="0" anchor="ctr"/>
          <a:lstStyle/>
          <a:p>
            <a:pPr marL="0" indent="0">
              <a:buNone/>
            </a:pPr>
            <a:r>
              <a:rPr lang="en-US" sz="1200" b="1" dirty="0">
                <a:solidFill>
                  <a:srgbClr val="1A3C2B"/>
                </a:solidFill>
                <a:latin typeface="Calibri" pitchFamily="34" charset="0"/>
                <a:ea typeface="Calibri" pitchFamily="34" charset="-122"/>
                <a:cs typeface="Calibri" pitchFamily="34" charset="-120"/>
              </a:rPr>
              <a:t>Definition</a:t>
            </a:r>
            <a:endParaRPr lang="en-US" sz="1200" dirty="0"/>
          </a:p>
        </p:txBody>
      </p:sp>
      <p:sp>
        <p:nvSpPr>
          <p:cNvPr id="7" name="Text 5"/>
          <p:cNvSpPr/>
          <p:nvPr/>
        </p:nvSpPr>
        <p:spPr>
          <a:xfrm>
            <a:off x="594360" y="1627632"/>
            <a:ext cx="7955280" cy="2971800"/>
          </a:xfrm>
          <a:prstGeom prst="rect">
            <a:avLst/>
          </a:prstGeom>
          <a:noFill/>
          <a:ln/>
        </p:spPr>
        <p:txBody>
          <a:bodyPr wrap="square" lIns="0" tIns="0" rIns="0" bIns="0" rtlCol="0" anchor="ctr"/>
          <a:lstStyle/>
          <a:p>
            <a:pPr marL="0" indent="0">
              <a:buNone/>
            </a:pPr>
            <a:r>
              <a:rPr lang="en-US" sz="1250" dirty="0">
                <a:solidFill>
                  <a:srgbClr val="2D2D2D"/>
                </a:solidFill>
                <a:latin typeface="Calibri" pitchFamily="34" charset="0"/>
                <a:ea typeface="Calibri" pitchFamily="34" charset="-122"/>
                <a:cs typeface="Calibri" pitchFamily="34" charset="-120"/>
              </a:rPr>
              <a:t>Random Forest is an ensemble learning algorithm that builds a large number of decision trees during training and outputs the mean prediction of all individual trees for regression tasks. It was first proposed by Leo Breiman in 2001 and builds on two powerful ideas:</a:t>
            </a:r>
            <a:endParaRPr lang="en-US" sz="1250" dirty="0"/>
          </a:p>
          <a:p>
            <a:pPr marL="0" indent="0">
              <a:buNone/>
            </a:pPr>
            <a:endParaRPr lang="en-US" sz="1250" dirty="0"/>
          </a:p>
          <a:p>
            <a:pPr marL="0" indent="0">
              <a:buNone/>
            </a:pPr>
            <a:r>
              <a:rPr lang="en-US" sz="1250" dirty="0">
                <a:solidFill>
                  <a:srgbClr val="2D2D2D"/>
                </a:solidFill>
                <a:latin typeface="Calibri" pitchFamily="34" charset="0"/>
                <a:ea typeface="Calibri" pitchFamily="34" charset="-122"/>
                <a:cs typeface="Calibri" pitchFamily="34" charset="-120"/>
              </a:rPr>
              <a:t>Bagging (Bootstrap Aggregating) — each tree is trained on a random sample of the data drawn with replacement, meaning roughly 63% of training records appear in each tree's sample, while the remaining 37% (out-of-bag data) can be used for internal validation without a separate test set.</a:t>
            </a:r>
            <a:endParaRPr lang="en-US" sz="1250" dirty="0"/>
          </a:p>
          <a:p>
            <a:pPr marL="0" indent="0">
              <a:buNone/>
            </a:pPr>
            <a:endParaRPr lang="en-US" sz="1250" dirty="0"/>
          </a:p>
          <a:p>
            <a:pPr marL="0" indent="0">
              <a:buNone/>
            </a:pPr>
            <a:r>
              <a:rPr lang="en-US" sz="1250" dirty="0">
                <a:solidFill>
                  <a:srgbClr val="2D2D2D"/>
                </a:solidFill>
                <a:latin typeface="Calibri" pitchFamily="34" charset="0"/>
                <a:ea typeface="Calibri" pitchFamily="34" charset="-122"/>
                <a:cs typeface="Calibri" pitchFamily="34" charset="-120"/>
              </a:rPr>
              <a:t>Feature Randomness — at every node split, each tree is allowed to consider only a randomly chosen subset of m features rather than all available features. This forces the trees to learn different aspects of the data, making them diverse and complementary to one another.</a:t>
            </a:r>
            <a:endParaRPr lang="en-US" sz="1250" dirty="0"/>
          </a:p>
          <a:p>
            <a:pPr marL="0" indent="0">
              <a:buNone/>
            </a:pPr>
            <a:endParaRPr lang="en-US" sz="1250" dirty="0"/>
          </a:p>
          <a:p>
            <a:pPr marL="0" indent="0">
              <a:buNone/>
            </a:pPr>
            <a:r>
              <a:rPr lang="en-US" sz="1250" dirty="0">
                <a:solidFill>
                  <a:srgbClr val="2D2D2D"/>
                </a:solidFill>
                <a:latin typeface="Calibri" pitchFamily="34" charset="0"/>
                <a:ea typeface="Calibri" pitchFamily="34" charset="-122"/>
                <a:cs typeface="Calibri" pitchFamily="34" charset="-120"/>
              </a:rPr>
              <a:t>By combining hundreds of such diverse trees and averaging their outputs, Random Forest achieves far greater accuracy and robustness than any single decision tree could ever achieve alone. The key insight is that averaging diverse models cancels out individual errors — the noise is random, but the signal is consistent.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The Core Mechanism — Ensemble Learning &amp; Bagging</a:t>
            </a:r>
            <a:endParaRPr lang="en-US" sz="2200" dirty="0"/>
          </a:p>
        </p:txBody>
      </p:sp>
      <p:sp>
        <p:nvSpPr>
          <p:cNvPr id="4" name="Shape 2"/>
          <p:cNvSpPr/>
          <p:nvPr/>
        </p:nvSpPr>
        <p:spPr>
          <a:xfrm>
            <a:off x="365760" y="1097280"/>
            <a:ext cx="4160520" cy="3657600"/>
          </a:xfrm>
          <a:prstGeom prst="rect">
            <a:avLst/>
          </a:prstGeom>
          <a:solidFill>
            <a:srgbClr val="FFFFFF"/>
          </a:solidFill>
          <a:ln w="12700">
            <a:solidFill>
              <a:srgbClr val="E0DDD4"/>
            </a:solidFill>
            <a:prstDash val="solid"/>
          </a:ln>
        </p:spPr>
        <p:txBody>
          <a:bodyPr/>
          <a:lstStyle/>
          <a:p>
            <a:endParaRPr lang="en-US"/>
          </a:p>
        </p:txBody>
      </p:sp>
      <p:sp>
        <p:nvSpPr>
          <p:cNvPr id="5" name="Shape 3"/>
          <p:cNvSpPr/>
          <p:nvPr/>
        </p:nvSpPr>
        <p:spPr>
          <a:xfrm>
            <a:off x="365760" y="1097280"/>
            <a:ext cx="4160520" cy="438912"/>
          </a:xfrm>
          <a:prstGeom prst="rect">
            <a:avLst/>
          </a:prstGeom>
          <a:solidFill>
            <a:srgbClr val="1A3C2B"/>
          </a:solidFill>
          <a:ln w="12700">
            <a:solidFill>
              <a:srgbClr val="1A3C2B"/>
            </a:solidFill>
            <a:prstDash val="solid"/>
          </a:ln>
        </p:spPr>
        <p:txBody>
          <a:bodyPr/>
          <a:lstStyle/>
          <a:p>
            <a:endParaRPr lang="en-US"/>
          </a:p>
        </p:txBody>
      </p:sp>
      <p:sp>
        <p:nvSpPr>
          <p:cNvPr id="6" name="Text 4"/>
          <p:cNvSpPr/>
          <p:nvPr/>
        </p:nvSpPr>
        <p:spPr>
          <a:xfrm>
            <a:off x="457200" y="1161288"/>
            <a:ext cx="3931920" cy="320040"/>
          </a:xfrm>
          <a:prstGeom prst="rect">
            <a:avLst/>
          </a:prstGeom>
          <a:noFill/>
          <a:ln/>
        </p:spPr>
        <p:txBody>
          <a:bodyPr wrap="square" lIns="0" tIns="0" rIns="0" bIns="0" rtlCol="0" anchor="ctr"/>
          <a:lstStyle/>
          <a:p>
            <a:pPr marL="0" indent="0">
              <a:buNone/>
            </a:pPr>
            <a:r>
              <a:rPr lang="en-US" sz="1100" b="1" kern="0" spc="150" dirty="0">
                <a:solidFill>
                  <a:srgbClr val="C8963E"/>
                </a:solidFill>
                <a:latin typeface="Calibri" pitchFamily="34" charset="0"/>
                <a:ea typeface="Calibri" pitchFamily="34" charset="-122"/>
                <a:cs typeface="Calibri" pitchFamily="34" charset="-120"/>
              </a:rPr>
              <a:t>ENSEMBLE LEARNING</a:t>
            </a:r>
            <a:endParaRPr lang="en-US" sz="1100" dirty="0"/>
          </a:p>
        </p:txBody>
      </p:sp>
      <p:sp>
        <p:nvSpPr>
          <p:cNvPr id="7" name="Text 5"/>
          <p:cNvSpPr/>
          <p:nvPr/>
        </p:nvSpPr>
        <p:spPr>
          <a:xfrm>
            <a:off x="502920" y="1618488"/>
            <a:ext cx="3886200" cy="301752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The word 'ensemble' comes from music — many instruments playing together produce a richer sound than any single instrument alone. In machine learning, an ensemble combines many weak learners (models that are only slightly better than random guessing) into one powerful, stable predictor.</a:t>
            </a:r>
            <a:endParaRPr lang="en-US" sz="1150" dirty="0"/>
          </a:p>
          <a:p>
            <a:pPr marL="0" indent="0">
              <a:buNone/>
            </a:pPr>
            <a:endParaRPr lang="en-US" sz="1150" dirty="0"/>
          </a:p>
          <a:p>
            <a:pPr marL="0" indent="0">
              <a:buNone/>
            </a:pPr>
            <a:r>
              <a:rPr lang="en-US" sz="1150" dirty="0">
                <a:solidFill>
                  <a:srgbClr val="2D2D2D"/>
                </a:solidFill>
                <a:latin typeface="Calibri" pitchFamily="34" charset="0"/>
                <a:ea typeface="Calibri" pitchFamily="34" charset="-122"/>
                <a:cs typeface="Calibri" pitchFamily="34" charset="-120"/>
              </a:rPr>
              <a:t>Random Forest applies this idea using decision trees as its base learners. A single decision tree tends to overfit — it memorises training data perfectly but fails on new examples. When you average hundreds of slightly different trees, overfitting cancels out while the true underlying pattern is preserved.</a:t>
            </a:r>
            <a:endParaRPr lang="en-US" sz="1150" dirty="0"/>
          </a:p>
          <a:p>
            <a:pPr marL="0" indent="0">
              <a:buNone/>
            </a:pPr>
            <a:endParaRPr lang="en-US" sz="1150" dirty="0"/>
          </a:p>
          <a:p>
            <a:pPr marL="0" indent="0">
              <a:buNone/>
            </a:pPr>
            <a:r>
              <a:rPr lang="en-US" sz="1150" dirty="0">
                <a:solidFill>
                  <a:srgbClr val="2D2D2D"/>
                </a:solidFill>
                <a:latin typeface="Calibri" pitchFamily="34" charset="0"/>
                <a:ea typeface="Calibri" pitchFamily="34" charset="-122"/>
                <a:cs typeface="Calibri" pitchFamily="34" charset="-120"/>
              </a:rPr>
              <a:t>This is the bias-variance tradeoff in practice: individual trees have low bias but high variance. Averaging reduces variance without increasing bias, which is exactly what produces strong generalisation.</a:t>
            </a:r>
            <a:endParaRPr lang="en-US" sz="1150" dirty="0"/>
          </a:p>
        </p:txBody>
      </p:sp>
      <p:sp>
        <p:nvSpPr>
          <p:cNvPr id="8" name="Shape 6"/>
          <p:cNvSpPr/>
          <p:nvPr/>
        </p:nvSpPr>
        <p:spPr>
          <a:xfrm>
            <a:off x="4663440" y="1097280"/>
            <a:ext cx="4114800" cy="3657600"/>
          </a:xfrm>
          <a:prstGeom prst="rect">
            <a:avLst/>
          </a:prstGeom>
          <a:solidFill>
            <a:srgbClr val="FFFFFF"/>
          </a:solidFill>
          <a:ln w="12700">
            <a:solidFill>
              <a:srgbClr val="E0DDD4"/>
            </a:solidFill>
            <a:prstDash val="solid"/>
          </a:ln>
        </p:spPr>
        <p:txBody>
          <a:bodyPr/>
          <a:lstStyle/>
          <a:p>
            <a:endParaRPr lang="en-US"/>
          </a:p>
        </p:txBody>
      </p:sp>
      <p:sp>
        <p:nvSpPr>
          <p:cNvPr id="9" name="Shape 7"/>
          <p:cNvSpPr/>
          <p:nvPr/>
        </p:nvSpPr>
        <p:spPr>
          <a:xfrm>
            <a:off x="4663440" y="1097280"/>
            <a:ext cx="4114800" cy="438912"/>
          </a:xfrm>
          <a:prstGeom prst="rect">
            <a:avLst/>
          </a:prstGeom>
          <a:solidFill>
            <a:srgbClr val="4A7C59"/>
          </a:solidFill>
          <a:ln w="12700">
            <a:solidFill>
              <a:srgbClr val="4A7C59"/>
            </a:solidFill>
            <a:prstDash val="solid"/>
          </a:ln>
        </p:spPr>
        <p:txBody>
          <a:bodyPr/>
          <a:lstStyle/>
          <a:p>
            <a:endParaRPr lang="en-US"/>
          </a:p>
        </p:txBody>
      </p:sp>
      <p:sp>
        <p:nvSpPr>
          <p:cNvPr id="10" name="Text 8"/>
          <p:cNvSpPr/>
          <p:nvPr/>
        </p:nvSpPr>
        <p:spPr>
          <a:xfrm>
            <a:off x="4754880" y="1161288"/>
            <a:ext cx="3931920" cy="320040"/>
          </a:xfrm>
          <a:prstGeom prst="rect">
            <a:avLst/>
          </a:prstGeom>
          <a:noFill/>
          <a:ln/>
        </p:spPr>
        <p:txBody>
          <a:bodyPr wrap="square" lIns="0" tIns="0" rIns="0" bIns="0" rtlCol="0" anchor="ctr"/>
          <a:lstStyle/>
          <a:p>
            <a:pPr marL="0" indent="0">
              <a:buNone/>
            </a:pPr>
            <a:r>
              <a:rPr lang="en-US" sz="1100" b="1" kern="0" spc="50" dirty="0">
                <a:solidFill>
                  <a:srgbClr val="FFFFFF"/>
                </a:solidFill>
                <a:latin typeface="Calibri" pitchFamily="34" charset="0"/>
                <a:ea typeface="Calibri" pitchFamily="34" charset="-122"/>
                <a:cs typeface="Calibri" pitchFamily="34" charset="-120"/>
              </a:rPr>
              <a:t>BOOTSTRAP AGGREGATING (BAGGING)</a:t>
            </a:r>
            <a:endParaRPr lang="en-US" sz="1100" dirty="0"/>
          </a:p>
        </p:txBody>
      </p:sp>
      <p:sp>
        <p:nvSpPr>
          <p:cNvPr id="11" name="Text 9"/>
          <p:cNvSpPr/>
          <p:nvPr/>
        </p:nvSpPr>
        <p:spPr>
          <a:xfrm>
            <a:off x="4773168" y="1618488"/>
            <a:ext cx="3886200" cy="301752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Bagging creates diversity among trees by training each one on a different random sample of the original dataset. This sampling is performed with replacement — the same row can appear multiple times within a single sample.</a:t>
            </a:r>
            <a:endParaRPr lang="en-US" sz="1150" dirty="0"/>
          </a:p>
          <a:p>
            <a:pPr marL="0" indent="0">
              <a:buNone/>
            </a:pPr>
            <a:endParaRPr lang="en-US" sz="1150" dirty="0"/>
          </a:p>
          <a:p>
            <a:pPr marL="0" indent="0">
              <a:buNone/>
            </a:pPr>
            <a:r>
              <a:rPr lang="en-US" sz="1150" dirty="0">
                <a:solidFill>
                  <a:srgbClr val="2D2D2D"/>
                </a:solidFill>
                <a:latin typeface="Calibri" pitchFamily="34" charset="0"/>
                <a:ea typeface="Calibri" pitchFamily="34" charset="-122"/>
                <a:cs typeface="Calibri" pitchFamily="34" charset="-120"/>
              </a:rPr>
              <a:t>For a dataset of n rows, each bootstrap sample also contains n rows. About 63% of original rows appear at least once; the rest form the out-of-bag (OOB) sample, which provides a free internal validation set — no separate validation split needed.</a:t>
            </a:r>
            <a:endParaRPr lang="en-US" sz="1150" dirty="0"/>
          </a:p>
          <a:p>
            <a:pPr marL="0" indent="0">
              <a:buNone/>
            </a:pPr>
            <a:endParaRPr lang="en-US" sz="1150" dirty="0"/>
          </a:p>
          <a:p>
            <a:pPr marL="0" indent="0">
              <a:buNone/>
            </a:pPr>
            <a:r>
              <a:rPr lang="en-US" sz="1150" dirty="0">
                <a:solidFill>
                  <a:srgbClr val="2D2D2D"/>
                </a:solidFill>
                <a:latin typeface="Calibri" pitchFamily="34" charset="0"/>
                <a:ea typeface="Calibri" pitchFamily="34" charset="-122"/>
                <a:cs typeface="Calibri" pitchFamily="34" charset="-120"/>
              </a:rPr>
              <a:t>Because each tree sees a different slice of the data, they will make different individual errors. When their predictions are averaged, those errors tend to cancel out, leaving a final prediction much closer to the true value than any single tree could achieve.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Feature Randomness — Making Trees Truly Independent</a:t>
            </a:r>
            <a:endParaRPr lang="en-US" sz="2200" dirty="0"/>
          </a:p>
        </p:txBody>
      </p:sp>
      <p:sp>
        <p:nvSpPr>
          <p:cNvPr id="4" name="Shape 2"/>
          <p:cNvSpPr/>
          <p:nvPr/>
        </p:nvSpPr>
        <p:spPr>
          <a:xfrm>
            <a:off x="365760" y="1097280"/>
            <a:ext cx="5120640" cy="3657600"/>
          </a:xfrm>
          <a:prstGeom prst="rect">
            <a:avLst/>
          </a:prstGeom>
          <a:solidFill>
            <a:srgbClr val="FFFFFF"/>
          </a:solidFill>
          <a:ln w="12700">
            <a:solidFill>
              <a:srgbClr val="E0DDD4"/>
            </a:solidFill>
            <a:prstDash val="solid"/>
          </a:ln>
        </p:spPr>
        <p:txBody>
          <a:bodyPr/>
          <a:lstStyle/>
          <a:p>
            <a:endParaRPr lang="en-US"/>
          </a:p>
        </p:txBody>
      </p:sp>
      <p:sp>
        <p:nvSpPr>
          <p:cNvPr id="5" name="Shape 3"/>
          <p:cNvSpPr/>
          <p:nvPr/>
        </p:nvSpPr>
        <p:spPr>
          <a:xfrm>
            <a:off x="411480" y="1188720"/>
            <a:ext cx="64008" cy="3474720"/>
          </a:xfrm>
          <a:prstGeom prst="rect">
            <a:avLst/>
          </a:prstGeom>
          <a:solidFill>
            <a:srgbClr val="4A7C59"/>
          </a:solidFill>
          <a:ln w="12700">
            <a:solidFill>
              <a:srgbClr val="4A7C59"/>
            </a:solidFill>
            <a:prstDash val="solid"/>
          </a:ln>
        </p:spPr>
        <p:txBody>
          <a:bodyPr/>
          <a:lstStyle/>
          <a:p>
            <a:endParaRPr lang="en-US"/>
          </a:p>
        </p:txBody>
      </p:sp>
      <p:sp>
        <p:nvSpPr>
          <p:cNvPr id="6" name="Text 4"/>
          <p:cNvSpPr/>
          <p:nvPr/>
        </p:nvSpPr>
        <p:spPr>
          <a:xfrm>
            <a:off x="594360" y="1188720"/>
            <a:ext cx="4754880" cy="347472"/>
          </a:xfrm>
          <a:prstGeom prst="rect">
            <a:avLst/>
          </a:prstGeom>
          <a:noFill/>
          <a:ln/>
        </p:spPr>
        <p:txBody>
          <a:bodyPr wrap="square" lIns="0" tIns="0" rIns="0" bIns="0" rtlCol="0" anchor="ctr"/>
          <a:lstStyle/>
          <a:p>
            <a:pPr marL="0" indent="0">
              <a:buNone/>
            </a:pPr>
            <a:r>
              <a:rPr lang="en-US" sz="1200" b="1" dirty="0">
                <a:solidFill>
                  <a:srgbClr val="1A3C2B"/>
                </a:solidFill>
                <a:latin typeface="Calibri" pitchFamily="34" charset="0"/>
                <a:ea typeface="Calibri" pitchFamily="34" charset="-122"/>
                <a:cs typeface="Calibri" pitchFamily="34" charset="-120"/>
              </a:rPr>
              <a:t>Why Feature Randomness?</a:t>
            </a:r>
            <a:endParaRPr lang="en-US" sz="1200" dirty="0"/>
          </a:p>
        </p:txBody>
      </p:sp>
      <p:sp>
        <p:nvSpPr>
          <p:cNvPr id="7" name="Text 5"/>
          <p:cNvSpPr/>
          <p:nvPr/>
        </p:nvSpPr>
        <p:spPr>
          <a:xfrm>
            <a:off x="594360" y="1600200"/>
            <a:ext cx="4800600" cy="3063240"/>
          </a:xfrm>
          <a:prstGeom prst="rect">
            <a:avLst/>
          </a:prstGeom>
          <a:noFill/>
          <a:ln/>
        </p:spPr>
        <p:txBody>
          <a:bodyPr wrap="square" lIns="0" tIns="0" rIns="0" bIns="0" rtlCol="0" anchor="ctr"/>
          <a:lstStyle/>
          <a:p>
            <a:pPr marL="0" indent="0">
              <a:buNone/>
            </a:pPr>
            <a:r>
              <a:rPr lang="en-US" sz="1150" dirty="0">
                <a:solidFill>
                  <a:srgbClr val="2D2D2D"/>
                </a:solidFill>
                <a:latin typeface="Calibri" pitchFamily="34" charset="0"/>
                <a:ea typeface="Calibri" pitchFamily="34" charset="-122"/>
                <a:cs typeface="Calibri" pitchFamily="34" charset="-120"/>
              </a:rPr>
              <a:t>Even with bagging, if there is one very strong predictor, almost every tree will choose that feature for its root split — making all trees look similar, or correlated. Averaging correlated models provides little benefit.</a:t>
            </a:r>
            <a:endParaRPr lang="en-US" sz="1150" dirty="0"/>
          </a:p>
          <a:p>
            <a:pPr marL="0" indent="0">
              <a:buNone/>
            </a:pPr>
            <a:endParaRPr lang="en-US" sz="1150" dirty="0"/>
          </a:p>
          <a:p>
            <a:pPr marL="0" indent="0">
              <a:buNone/>
            </a:pPr>
            <a:r>
              <a:rPr lang="en-US" sz="1150" dirty="0">
                <a:solidFill>
                  <a:srgbClr val="2D2D2D"/>
                </a:solidFill>
                <a:latin typeface="Calibri" pitchFamily="34" charset="0"/>
                <a:ea typeface="Calibri" pitchFamily="34" charset="-122"/>
                <a:cs typeface="Calibri" pitchFamily="34" charset="-120"/>
              </a:rPr>
              <a:t>Random Forest solves this with an extra layer of randomness: at every single node split, only a random subset of m features is considered. For regression, m is typically p/3, where p is the total number of features.</a:t>
            </a:r>
            <a:endParaRPr lang="en-US" sz="1150" dirty="0"/>
          </a:p>
          <a:p>
            <a:pPr marL="0" indent="0">
              <a:buNone/>
            </a:pPr>
            <a:endParaRPr lang="en-US" sz="1150" dirty="0"/>
          </a:p>
          <a:p>
            <a:pPr marL="0" indent="0">
              <a:buNone/>
            </a:pPr>
            <a:r>
              <a:rPr lang="en-US" sz="1150" dirty="0">
                <a:solidFill>
                  <a:srgbClr val="2D2D2D"/>
                </a:solidFill>
                <a:latin typeface="Calibri" pitchFamily="34" charset="0"/>
                <a:ea typeface="Calibri" pitchFamily="34" charset="-122"/>
                <a:cs typeface="Calibri" pitchFamily="34" charset="-120"/>
              </a:rPr>
              <a:t>This forces some trees to build themselves around weaker predictors, giving them a chance to discover subtle secondary patterns. The result is a genuinely diverse forest where each tree is learning something different from its peers.</a:t>
            </a:r>
            <a:endParaRPr lang="en-US" sz="1150" dirty="0"/>
          </a:p>
          <a:p>
            <a:pPr marL="0" indent="0">
              <a:buNone/>
            </a:pPr>
            <a:endParaRPr lang="en-US" sz="1150" dirty="0"/>
          </a:p>
          <a:p>
            <a:pPr marL="0" indent="0">
              <a:buNone/>
            </a:pPr>
            <a:r>
              <a:rPr lang="en-US" sz="1150" dirty="0">
                <a:solidFill>
                  <a:srgbClr val="2D2D2D"/>
                </a:solidFill>
                <a:latin typeface="Calibri" pitchFamily="34" charset="0"/>
                <a:ea typeface="Calibri" pitchFamily="34" charset="-122"/>
                <a:cs typeface="Calibri" pitchFamily="34" charset="-120"/>
              </a:rPr>
              <a:t>In our insurance dataset with 6 features, this means some trees may rely primarily on age and BMI — even though smoker dominates — and those trees contribute valuable nuance to the final averaged prediction, especially for edge cases.</a:t>
            </a:r>
            <a:endParaRPr lang="en-US" sz="1150" dirty="0"/>
          </a:p>
        </p:txBody>
      </p:sp>
      <p:sp>
        <p:nvSpPr>
          <p:cNvPr id="8" name="Shape 6"/>
          <p:cNvSpPr/>
          <p:nvPr/>
        </p:nvSpPr>
        <p:spPr>
          <a:xfrm>
            <a:off x="5669280" y="1097280"/>
            <a:ext cx="3108960" cy="822960"/>
          </a:xfrm>
          <a:prstGeom prst="rect">
            <a:avLst/>
          </a:prstGeom>
          <a:solidFill>
            <a:srgbClr val="ECEAE3"/>
          </a:solidFill>
          <a:ln w="12700">
            <a:solidFill>
              <a:srgbClr val="E0DDD4"/>
            </a:solidFill>
            <a:prstDash val="solid"/>
          </a:ln>
        </p:spPr>
        <p:txBody>
          <a:bodyPr/>
          <a:lstStyle/>
          <a:p>
            <a:endParaRPr lang="en-US"/>
          </a:p>
        </p:txBody>
      </p:sp>
      <p:sp>
        <p:nvSpPr>
          <p:cNvPr id="9" name="Shape 7"/>
          <p:cNvSpPr/>
          <p:nvPr/>
        </p:nvSpPr>
        <p:spPr>
          <a:xfrm>
            <a:off x="5669280" y="1097280"/>
            <a:ext cx="64008" cy="822960"/>
          </a:xfrm>
          <a:prstGeom prst="rect">
            <a:avLst/>
          </a:prstGeom>
          <a:solidFill>
            <a:srgbClr val="C8963E"/>
          </a:solidFill>
          <a:ln w="12700">
            <a:solidFill>
              <a:srgbClr val="C8963E"/>
            </a:solidFill>
            <a:prstDash val="solid"/>
          </a:ln>
        </p:spPr>
        <p:txBody>
          <a:bodyPr/>
          <a:lstStyle/>
          <a:p>
            <a:endParaRPr lang="en-US"/>
          </a:p>
        </p:txBody>
      </p:sp>
      <p:sp>
        <p:nvSpPr>
          <p:cNvPr id="10" name="Text 8"/>
          <p:cNvSpPr/>
          <p:nvPr/>
        </p:nvSpPr>
        <p:spPr>
          <a:xfrm>
            <a:off x="5824728" y="1143000"/>
            <a:ext cx="2834640" cy="274320"/>
          </a:xfrm>
          <a:prstGeom prst="rect">
            <a:avLst/>
          </a:prstGeom>
          <a:noFill/>
          <a:ln/>
        </p:spPr>
        <p:txBody>
          <a:bodyPr wrap="square" lIns="0" tIns="0" rIns="0" bIns="0" rtlCol="0" anchor="ctr"/>
          <a:lstStyle/>
          <a:p>
            <a:pPr marL="0" indent="0">
              <a:buNone/>
            </a:pPr>
            <a:r>
              <a:rPr lang="en-US" sz="1200" b="1" dirty="0">
                <a:solidFill>
                  <a:srgbClr val="1A3C2B"/>
                </a:solidFill>
                <a:latin typeface="Consolas" pitchFamily="34" charset="0"/>
                <a:ea typeface="Consolas" pitchFamily="34" charset="-122"/>
                <a:cs typeface="Consolas" pitchFamily="34" charset="-120"/>
              </a:rPr>
              <a:t>m = p/3</a:t>
            </a:r>
            <a:endParaRPr lang="en-US" sz="1200" dirty="0"/>
          </a:p>
        </p:txBody>
      </p:sp>
      <p:sp>
        <p:nvSpPr>
          <p:cNvPr id="11" name="Text 9"/>
          <p:cNvSpPr/>
          <p:nvPr/>
        </p:nvSpPr>
        <p:spPr>
          <a:xfrm>
            <a:off x="5824728" y="1463040"/>
            <a:ext cx="2834640" cy="40233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Features at each split</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(regression default)</a:t>
            </a:r>
            <a:endParaRPr lang="en-US" sz="1000" dirty="0"/>
          </a:p>
        </p:txBody>
      </p:sp>
      <p:sp>
        <p:nvSpPr>
          <p:cNvPr id="12" name="Shape 10"/>
          <p:cNvSpPr/>
          <p:nvPr/>
        </p:nvSpPr>
        <p:spPr>
          <a:xfrm>
            <a:off x="5669280" y="2029968"/>
            <a:ext cx="3108960" cy="822960"/>
          </a:xfrm>
          <a:prstGeom prst="rect">
            <a:avLst/>
          </a:prstGeom>
          <a:solidFill>
            <a:srgbClr val="FFFFFF"/>
          </a:solidFill>
          <a:ln w="12700">
            <a:solidFill>
              <a:srgbClr val="E0DDD4"/>
            </a:solidFill>
            <a:prstDash val="solid"/>
          </a:ln>
        </p:spPr>
        <p:txBody>
          <a:bodyPr/>
          <a:lstStyle/>
          <a:p>
            <a:endParaRPr lang="en-US"/>
          </a:p>
        </p:txBody>
      </p:sp>
      <p:sp>
        <p:nvSpPr>
          <p:cNvPr id="13" name="Shape 11"/>
          <p:cNvSpPr/>
          <p:nvPr/>
        </p:nvSpPr>
        <p:spPr>
          <a:xfrm>
            <a:off x="5669280" y="2029968"/>
            <a:ext cx="64008" cy="822960"/>
          </a:xfrm>
          <a:prstGeom prst="rect">
            <a:avLst/>
          </a:prstGeom>
          <a:solidFill>
            <a:srgbClr val="C8963E"/>
          </a:solidFill>
          <a:ln w="12700">
            <a:solidFill>
              <a:srgbClr val="C8963E"/>
            </a:solidFill>
            <a:prstDash val="solid"/>
          </a:ln>
        </p:spPr>
        <p:txBody>
          <a:bodyPr/>
          <a:lstStyle/>
          <a:p>
            <a:endParaRPr lang="en-US"/>
          </a:p>
        </p:txBody>
      </p:sp>
      <p:sp>
        <p:nvSpPr>
          <p:cNvPr id="14" name="Text 12"/>
          <p:cNvSpPr/>
          <p:nvPr/>
        </p:nvSpPr>
        <p:spPr>
          <a:xfrm>
            <a:off x="5824728" y="2075688"/>
            <a:ext cx="2834640" cy="274320"/>
          </a:xfrm>
          <a:prstGeom prst="rect">
            <a:avLst/>
          </a:prstGeom>
          <a:noFill/>
          <a:ln/>
        </p:spPr>
        <p:txBody>
          <a:bodyPr wrap="square" lIns="0" tIns="0" rIns="0" bIns="0" rtlCol="0" anchor="ctr"/>
          <a:lstStyle/>
          <a:p>
            <a:pPr marL="0" indent="0">
              <a:buNone/>
            </a:pPr>
            <a:r>
              <a:rPr lang="en-US" sz="1200" b="1" dirty="0">
                <a:solidFill>
                  <a:srgbClr val="1A3C2B"/>
                </a:solidFill>
                <a:latin typeface="Consolas" pitchFamily="34" charset="0"/>
                <a:ea typeface="Consolas" pitchFamily="34" charset="-122"/>
                <a:cs typeface="Consolas" pitchFamily="34" charset="-120"/>
              </a:rPr>
              <a:t>n_estimators = 200</a:t>
            </a:r>
            <a:endParaRPr lang="en-US" sz="1200" dirty="0"/>
          </a:p>
        </p:txBody>
      </p:sp>
      <p:sp>
        <p:nvSpPr>
          <p:cNvPr id="15" name="Text 13"/>
          <p:cNvSpPr/>
          <p:nvPr/>
        </p:nvSpPr>
        <p:spPr>
          <a:xfrm>
            <a:off x="5824728" y="2395728"/>
            <a:ext cx="2834640" cy="40233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Trees trained in this project</a:t>
            </a:r>
            <a:endParaRPr lang="en-US" sz="1000" dirty="0"/>
          </a:p>
        </p:txBody>
      </p:sp>
      <p:sp>
        <p:nvSpPr>
          <p:cNvPr id="16" name="Shape 14"/>
          <p:cNvSpPr/>
          <p:nvPr/>
        </p:nvSpPr>
        <p:spPr>
          <a:xfrm>
            <a:off x="5669280" y="2962656"/>
            <a:ext cx="3108960" cy="822960"/>
          </a:xfrm>
          <a:prstGeom prst="rect">
            <a:avLst/>
          </a:prstGeom>
          <a:solidFill>
            <a:srgbClr val="ECEAE3"/>
          </a:solidFill>
          <a:ln w="12700">
            <a:solidFill>
              <a:srgbClr val="E0DDD4"/>
            </a:solidFill>
            <a:prstDash val="solid"/>
          </a:ln>
        </p:spPr>
        <p:txBody>
          <a:bodyPr/>
          <a:lstStyle/>
          <a:p>
            <a:endParaRPr lang="en-US"/>
          </a:p>
        </p:txBody>
      </p:sp>
      <p:sp>
        <p:nvSpPr>
          <p:cNvPr id="17" name="Shape 15"/>
          <p:cNvSpPr/>
          <p:nvPr/>
        </p:nvSpPr>
        <p:spPr>
          <a:xfrm>
            <a:off x="5669280" y="2962656"/>
            <a:ext cx="64008" cy="822960"/>
          </a:xfrm>
          <a:prstGeom prst="rect">
            <a:avLst/>
          </a:prstGeom>
          <a:solidFill>
            <a:srgbClr val="C8963E"/>
          </a:solidFill>
          <a:ln w="12700">
            <a:solidFill>
              <a:srgbClr val="C8963E"/>
            </a:solidFill>
            <a:prstDash val="solid"/>
          </a:ln>
        </p:spPr>
        <p:txBody>
          <a:bodyPr/>
          <a:lstStyle/>
          <a:p>
            <a:endParaRPr lang="en-US"/>
          </a:p>
        </p:txBody>
      </p:sp>
      <p:sp>
        <p:nvSpPr>
          <p:cNvPr id="18" name="Text 16"/>
          <p:cNvSpPr/>
          <p:nvPr/>
        </p:nvSpPr>
        <p:spPr>
          <a:xfrm>
            <a:off x="5824728" y="3008376"/>
            <a:ext cx="2834640" cy="274320"/>
          </a:xfrm>
          <a:prstGeom prst="rect">
            <a:avLst/>
          </a:prstGeom>
          <a:noFill/>
          <a:ln/>
        </p:spPr>
        <p:txBody>
          <a:bodyPr wrap="square" lIns="0" tIns="0" rIns="0" bIns="0" rtlCol="0" anchor="ctr"/>
          <a:lstStyle/>
          <a:p>
            <a:pPr marL="0" indent="0">
              <a:buNone/>
            </a:pPr>
            <a:r>
              <a:rPr lang="en-US" sz="1200" b="1" dirty="0">
                <a:solidFill>
                  <a:srgbClr val="1A3C2B"/>
                </a:solidFill>
                <a:latin typeface="Consolas" pitchFamily="34" charset="0"/>
                <a:ea typeface="Consolas" pitchFamily="34" charset="-122"/>
                <a:cs typeface="Consolas" pitchFamily="34" charset="-120"/>
              </a:rPr>
              <a:t>OOB Score</a:t>
            </a:r>
            <a:endParaRPr lang="en-US" sz="1200" dirty="0"/>
          </a:p>
        </p:txBody>
      </p:sp>
      <p:sp>
        <p:nvSpPr>
          <p:cNvPr id="19" name="Text 17"/>
          <p:cNvSpPr/>
          <p:nvPr/>
        </p:nvSpPr>
        <p:spPr>
          <a:xfrm>
            <a:off x="5824728" y="3328416"/>
            <a:ext cx="2834640" cy="40233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Free validation from ~37%</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of data unseen per tree</a:t>
            </a:r>
            <a:endParaRPr lang="en-US" sz="1000" dirty="0"/>
          </a:p>
        </p:txBody>
      </p:sp>
      <p:sp>
        <p:nvSpPr>
          <p:cNvPr id="20" name="Shape 18"/>
          <p:cNvSpPr/>
          <p:nvPr/>
        </p:nvSpPr>
        <p:spPr>
          <a:xfrm>
            <a:off x="5669280" y="3895344"/>
            <a:ext cx="3108960" cy="822960"/>
          </a:xfrm>
          <a:prstGeom prst="rect">
            <a:avLst/>
          </a:prstGeom>
          <a:solidFill>
            <a:srgbClr val="FFFFFF"/>
          </a:solidFill>
          <a:ln w="12700">
            <a:solidFill>
              <a:srgbClr val="E0DDD4"/>
            </a:solidFill>
            <a:prstDash val="solid"/>
          </a:ln>
        </p:spPr>
        <p:txBody>
          <a:bodyPr/>
          <a:lstStyle/>
          <a:p>
            <a:endParaRPr lang="en-US"/>
          </a:p>
        </p:txBody>
      </p:sp>
      <p:sp>
        <p:nvSpPr>
          <p:cNvPr id="21" name="Shape 19"/>
          <p:cNvSpPr/>
          <p:nvPr/>
        </p:nvSpPr>
        <p:spPr>
          <a:xfrm>
            <a:off x="5669280" y="3895344"/>
            <a:ext cx="64008" cy="822960"/>
          </a:xfrm>
          <a:prstGeom prst="rect">
            <a:avLst/>
          </a:prstGeom>
          <a:solidFill>
            <a:srgbClr val="C8963E"/>
          </a:solidFill>
          <a:ln w="12700">
            <a:solidFill>
              <a:srgbClr val="C8963E"/>
            </a:solidFill>
            <a:prstDash val="solid"/>
          </a:ln>
        </p:spPr>
        <p:txBody>
          <a:bodyPr/>
          <a:lstStyle/>
          <a:p>
            <a:endParaRPr lang="en-US"/>
          </a:p>
        </p:txBody>
      </p:sp>
      <p:sp>
        <p:nvSpPr>
          <p:cNvPr id="22" name="Text 20"/>
          <p:cNvSpPr/>
          <p:nvPr/>
        </p:nvSpPr>
        <p:spPr>
          <a:xfrm>
            <a:off x="5824728" y="3941064"/>
            <a:ext cx="2834640" cy="274320"/>
          </a:xfrm>
          <a:prstGeom prst="rect">
            <a:avLst/>
          </a:prstGeom>
          <a:noFill/>
          <a:ln/>
        </p:spPr>
        <p:txBody>
          <a:bodyPr wrap="square" lIns="0" tIns="0" rIns="0" bIns="0" rtlCol="0" anchor="ctr"/>
          <a:lstStyle/>
          <a:p>
            <a:pPr marL="0" indent="0">
              <a:buNone/>
            </a:pPr>
            <a:r>
              <a:rPr lang="en-US" sz="1200" b="1" dirty="0">
                <a:solidFill>
                  <a:srgbClr val="1A3C2B"/>
                </a:solidFill>
                <a:latin typeface="Consolas" pitchFamily="34" charset="0"/>
                <a:ea typeface="Consolas" pitchFamily="34" charset="-122"/>
                <a:cs typeface="Consolas" pitchFamily="34" charset="-120"/>
              </a:rPr>
              <a:t>max_depth = None</a:t>
            </a:r>
            <a:endParaRPr lang="en-US" sz="1200" dirty="0"/>
          </a:p>
        </p:txBody>
      </p:sp>
      <p:sp>
        <p:nvSpPr>
          <p:cNvPr id="23" name="Text 21"/>
          <p:cNvSpPr/>
          <p:nvPr/>
        </p:nvSpPr>
        <p:spPr>
          <a:xfrm>
            <a:off x="5824728" y="4261104"/>
            <a:ext cx="2834640" cy="40233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Fully grown trees — high</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individual variance by design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How Random Forest Works — Step by Step</a:t>
            </a:r>
            <a:endParaRPr lang="en-US" sz="2400" dirty="0"/>
          </a:p>
        </p:txBody>
      </p:sp>
      <p:sp>
        <p:nvSpPr>
          <p:cNvPr id="4" name="Shape 2"/>
          <p:cNvSpPr/>
          <p:nvPr/>
        </p:nvSpPr>
        <p:spPr>
          <a:xfrm>
            <a:off x="365760" y="1097280"/>
            <a:ext cx="8412480" cy="868680"/>
          </a:xfrm>
          <a:prstGeom prst="rect">
            <a:avLst/>
          </a:prstGeom>
          <a:solidFill>
            <a:srgbClr val="FFFFFF"/>
          </a:solidFill>
          <a:ln w="12700">
            <a:solidFill>
              <a:srgbClr val="E0DDD4"/>
            </a:solidFill>
            <a:prstDash val="solid"/>
          </a:ln>
        </p:spPr>
        <p:txBody>
          <a:bodyPr/>
          <a:lstStyle/>
          <a:p>
            <a:endParaRPr lang="en-US"/>
          </a:p>
        </p:txBody>
      </p:sp>
      <p:sp>
        <p:nvSpPr>
          <p:cNvPr id="5" name="Shape 3"/>
          <p:cNvSpPr/>
          <p:nvPr/>
        </p:nvSpPr>
        <p:spPr>
          <a:xfrm>
            <a:off x="457200" y="1280160"/>
            <a:ext cx="457200" cy="457200"/>
          </a:xfrm>
          <a:prstGeom prst="ellipse">
            <a:avLst/>
          </a:prstGeom>
          <a:solidFill>
            <a:srgbClr val="1A3C2B"/>
          </a:solidFill>
          <a:ln w="12700">
            <a:solidFill>
              <a:srgbClr val="1A3C2B"/>
            </a:solidFill>
            <a:prstDash val="solid"/>
          </a:ln>
        </p:spPr>
        <p:txBody>
          <a:bodyPr/>
          <a:lstStyle/>
          <a:p>
            <a:endParaRPr lang="en-US"/>
          </a:p>
        </p:txBody>
      </p:sp>
      <p:sp>
        <p:nvSpPr>
          <p:cNvPr id="6" name="Text 4"/>
          <p:cNvSpPr/>
          <p:nvPr/>
        </p:nvSpPr>
        <p:spPr>
          <a:xfrm>
            <a:off x="457200" y="1280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Shape 5"/>
          <p:cNvSpPr/>
          <p:nvPr/>
        </p:nvSpPr>
        <p:spPr>
          <a:xfrm>
            <a:off x="658368" y="1947672"/>
            <a:ext cx="36576" cy="128016"/>
          </a:xfrm>
          <a:prstGeom prst="rect">
            <a:avLst/>
          </a:prstGeom>
          <a:solidFill>
            <a:srgbClr val="C8963E"/>
          </a:solidFill>
          <a:ln w="12700">
            <a:solidFill>
              <a:srgbClr val="C8963E"/>
            </a:solidFill>
            <a:prstDash val="solid"/>
          </a:ln>
        </p:spPr>
        <p:txBody>
          <a:bodyPr/>
          <a:lstStyle/>
          <a:p>
            <a:endParaRPr lang="en-US"/>
          </a:p>
        </p:txBody>
      </p:sp>
      <p:sp>
        <p:nvSpPr>
          <p:cNvPr id="8" name="Text 6"/>
          <p:cNvSpPr/>
          <p:nvPr/>
        </p:nvSpPr>
        <p:spPr>
          <a:xfrm>
            <a:off x="1051560" y="1170432"/>
            <a:ext cx="2743200" cy="292608"/>
          </a:xfrm>
          <a:prstGeom prst="rect">
            <a:avLst/>
          </a:prstGeom>
          <a:noFill/>
          <a:ln/>
        </p:spPr>
        <p:txBody>
          <a:bodyPr wrap="square" lIns="0" tIns="0" rIns="0" bIns="0" rtlCol="0" anchor="ctr"/>
          <a:lstStyle/>
          <a:p>
            <a:pPr marL="0" indent="0">
              <a:buNone/>
            </a:pPr>
            <a:r>
              <a:rPr lang="en-US" sz="1200" b="1" dirty="0">
                <a:solidFill>
                  <a:srgbClr val="1A3C2B"/>
                </a:solidFill>
                <a:latin typeface="Calibri" pitchFamily="34" charset="0"/>
                <a:ea typeface="Calibri" pitchFamily="34" charset="-122"/>
                <a:cs typeface="Calibri" pitchFamily="34" charset="-120"/>
              </a:rPr>
              <a:t>Bootstrap Sampling</a:t>
            </a:r>
            <a:endParaRPr lang="en-US" sz="1200" dirty="0"/>
          </a:p>
        </p:txBody>
      </p:sp>
      <p:sp>
        <p:nvSpPr>
          <p:cNvPr id="9" name="Text 7"/>
          <p:cNvSpPr/>
          <p:nvPr/>
        </p:nvSpPr>
        <p:spPr>
          <a:xfrm>
            <a:off x="1051560" y="1508760"/>
            <a:ext cx="7589520" cy="41148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For each of the 200 trees, draw a random sample (with replacement) of n=1,337 rows. ~63% of rows appear; the rest become the OOB set used for free internal validation during training.</a:t>
            </a:r>
            <a:endParaRPr lang="en-US" sz="1100" dirty="0"/>
          </a:p>
        </p:txBody>
      </p:sp>
      <p:sp>
        <p:nvSpPr>
          <p:cNvPr id="10" name="Shape 8"/>
          <p:cNvSpPr/>
          <p:nvPr/>
        </p:nvSpPr>
        <p:spPr>
          <a:xfrm>
            <a:off x="365760" y="2075688"/>
            <a:ext cx="8412480" cy="868680"/>
          </a:xfrm>
          <a:prstGeom prst="rect">
            <a:avLst/>
          </a:prstGeom>
          <a:solidFill>
            <a:srgbClr val="ECEAE3"/>
          </a:solidFill>
          <a:ln w="12700">
            <a:solidFill>
              <a:srgbClr val="E0DDD4"/>
            </a:solidFill>
            <a:prstDash val="solid"/>
          </a:ln>
        </p:spPr>
        <p:txBody>
          <a:bodyPr/>
          <a:lstStyle/>
          <a:p>
            <a:endParaRPr lang="en-US"/>
          </a:p>
        </p:txBody>
      </p:sp>
      <p:sp>
        <p:nvSpPr>
          <p:cNvPr id="11" name="Shape 9"/>
          <p:cNvSpPr/>
          <p:nvPr/>
        </p:nvSpPr>
        <p:spPr>
          <a:xfrm>
            <a:off x="457200" y="2258568"/>
            <a:ext cx="457200" cy="457200"/>
          </a:xfrm>
          <a:prstGeom prst="ellipse">
            <a:avLst/>
          </a:prstGeom>
          <a:solidFill>
            <a:srgbClr val="1A3C2B"/>
          </a:solidFill>
          <a:ln w="12700">
            <a:solidFill>
              <a:srgbClr val="1A3C2B"/>
            </a:solidFill>
            <a:prstDash val="solid"/>
          </a:ln>
        </p:spPr>
        <p:txBody>
          <a:bodyPr/>
          <a:lstStyle/>
          <a:p>
            <a:endParaRPr lang="en-US"/>
          </a:p>
        </p:txBody>
      </p:sp>
      <p:sp>
        <p:nvSpPr>
          <p:cNvPr id="12" name="Text 10"/>
          <p:cNvSpPr/>
          <p:nvPr/>
        </p:nvSpPr>
        <p:spPr>
          <a:xfrm>
            <a:off x="457200" y="225856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3" name="Shape 11"/>
          <p:cNvSpPr/>
          <p:nvPr/>
        </p:nvSpPr>
        <p:spPr>
          <a:xfrm>
            <a:off x="658368" y="2926080"/>
            <a:ext cx="36576" cy="128016"/>
          </a:xfrm>
          <a:prstGeom prst="rect">
            <a:avLst/>
          </a:prstGeom>
          <a:solidFill>
            <a:srgbClr val="C8963E"/>
          </a:solidFill>
          <a:ln w="12700">
            <a:solidFill>
              <a:srgbClr val="C8963E"/>
            </a:solidFill>
            <a:prstDash val="solid"/>
          </a:ln>
        </p:spPr>
        <p:txBody>
          <a:bodyPr/>
          <a:lstStyle/>
          <a:p>
            <a:endParaRPr lang="en-US"/>
          </a:p>
        </p:txBody>
      </p:sp>
      <p:sp>
        <p:nvSpPr>
          <p:cNvPr id="14" name="Text 12"/>
          <p:cNvSpPr/>
          <p:nvPr/>
        </p:nvSpPr>
        <p:spPr>
          <a:xfrm>
            <a:off x="1051560" y="2148840"/>
            <a:ext cx="2743200" cy="292608"/>
          </a:xfrm>
          <a:prstGeom prst="rect">
            <a:avLst/>
          </a:prstGeom>
          <a:noFill/>
          <a:ln/>
        </p:spPr>
        <p:txBody>
          <a:bodyPr wrap="square" lIns="0" tIns="0" rIns="0" bIns="0" rtlCol="0" anchor="ctr"/>
          <a:lstStyle/>
          <a:p>
            <a:pPr marL="0" indent="0">
              <a:buNone/>
            </a:pPr>
            <a:r>
              <a:rPr lang="en-US" sz="1200" b="1" dirty="0">
                <a:solidFill>
                  <a:srgbClr val="1A3C2B"/>
                </a:solidFill>
                <a:latin typeface="Calibri" pitchFamily="34" charset="0"/>
                <a:ea typeface="Calibri" pitchFamily="34" charset="-122"/>
                <a:cs typeface="Calibri" pitchFamily="34" charset="-120"/>
              </a:rPr>
              <a:t>Grow Each Decision Tree</a:t>
            </a:r>
            <a:endParaRPr lang="en-US" sz="1200" dirty="0"/>
          </a:p>
        </p:txBody>
      </p:sp>
      <p:sp>
        <p:nvSpPr>
          <p:cNvPr id="15" name="Text 13"/>
          <p:cNvSpPr/>
          <p:nvPr/>
        </p:nvSpPr>
        <p:spPr>
          <a:xfrm>
            <a:off x="1051560" y="2487168"/>
            <a:ext cx="7589520" cy="41148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Build a full unpruned tree on each bootstrap sample. At every node, consider only a random subset of m features for the best split. Each tree perfectly memorises its own sample — high variance by design.</a:t>
            </a:r>
            <a:endParaRPr lang="en-US" sz="1100" dirty="0"/>
          </a:p>
        </p:txBody>
      </p:sp>
      <p:sp>
        <p:nvSpPr>
          <p:cNvPr id="16" name="Shape 14"/>
          <p:cNvSpPr/>
          <p:nvPr/>
        </p:nvSpPr>
        <p:spPr>
          <a:xfrm>
            <a:off x="365760" y="3054096"/>
            <a:ext cx="8412480" cy="868680"/>
          </a:xfrm>
          <a:prstGeom prst="rect">
            <a:avLst/>
          </a:prstGeom>
          <a:solidFill>
            <a:srgbClr val="FFFFFF"/>
          </a:solidFill>
          <a:ln w="12700">
            <a:solidFill>
              <a:srgbClr val="E0DDD4"/>
            </a:solidFill>
            <a:prstDash val="solid"/>
          </a:ln>
        </p:spPr>
        <p:txBody>
          <a:bodyPr/>
          <a:lstStyle/>
          <a:p>
            <a:endParaRPr lang="en-US"/>
          </a:p>
        </p:txBody>
      </p:sp>
      <p:sp>
        <p:nvSpPr>
          <p:cNvPr id="17" name="Shape 15"/>
          <p:cNvSpPr/>
          <p:nvPr/>
        </p:nvSpPr>
        <p:spPr>
          <a:xfrm>
            <a:off x="457200" y="3236976"/>
            <a:ext cx="457200" cy="457200"/>
          </a:xfrm>
          <a:prstGeom prst="ellipse">
            <a:avLst/>
          </a:prstGeom>
          <a:solidFill>
            <a:srgbClr val="1A3C2B"/>
          </a:solidFill>
          <a:ln w="12700">
            <a:solidFill>
              <a:srgbClr val="1A3C2B"/>
            </a:solidFill>
            <a:prstDash val="solid"/>
          </a:ln>
        </p:spPr>
        <p:txBody>
          <a:bodyPr/>
          <a:lstStyle/>
          <a:p>
            <a:endParaRPr lang="en-US"/>
          </a:p>
        </p:txBody>
      </p:sp>
      <p:sp>
        <p:nvSpPr>
          <p:cNvPr id="18" name="Text 16"/>
          <p:cNvSpPr/>
          <p:nvPr/>
        </p:nvSpPr>
        <p:spPr>
          <a:xfrm>
            <a:off x="457200" y="32369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9" name="Shape 17"/>
          <p:cNvSpPr/>
          <p:nvPr/>
        </p:nvSpPr>
        <p:spPr>
          <a:xfrm>
            <a:off x="658368" y="3904488"/>
            <a:ext cx="36576" cy="128016"/>
          </a:xfrm>
          <a:prstGeom prst="rect">
            <a:avLst/>
          </a:prstGeom>
          <a:solidFill>
            <a:srgbClr val="C8963E"/>
          </a:solidFill>
          <a:ln w="12700">
            <a:solidFill>
              <a:srgbClr val="C8963E"/>
            </a:solidFill>
            <a:prstDash val="solid"/>
          </a:ln>
        </p:spPr>
        <p:txBody>
          <a:bodyPr/>
          <a:lstStyle/>
          <a:p>
            <a:endParaRPr lang="en-US"/>
          </a:p>
        </p:txBody>
      </p:sp>
      <p:sp>
        <p:nvSpPr>
          <p:cNvPr id="20" name="Text 18"/>
          <p:cNvSpPr/>
          <p:nvPr/>
        </p:nvSpPr>
        <p:spPr>
          <a:xfrm>
            <a:off x="1051560" y="3127248"/>
            <a:ext cx="2743200" cy="292608"/>
          </a:xfrm>
          <a:prstGeom prst="rect">
            <a:avLst/>
          </a:prstGeom>
          <a:noFill/>
          <a:ln/>
        </p:spPr>
        <p:txBody>
          <a:bodyPr wrap="square" lIns="0" tIns="0" rIns="0" bIns="0" rtlCol="0" anchor="ctr"/>
          <a:lstStyle/>
          <a:p>
            <a:pPr marL="0" indent="0">
              <a:buNone/>
            </a:pPr>
            <a:r>
              <a:rPr lang="en-US" sz="1200" b="1" dirty="0">
                <a:solidFill>
                  <a:srgbClr val="1A3C2B"/>
                </a:solidFill>
                <a:latin typeface="Calibri" pitchFamily="34" charset="0"/>
                <a:ea typeface="Calibri" pitchFamily="34" charset="-122"/>
                <a:cs typeface="Calibri" pitchFamily="34" charset="-120"/>
              </a:rPr>
              <a:t>Generate Predictions</a:t>
            </a:r>
            <a:endParaRPr lang="en-US" sz="1200" dirty="0"/>
          </a:p>
        </p:txBody>
      </p:sp>
      <p:sp>
        <p:nvSpPr>
          <p:cNvPr id="21" name="Text 19"/>
          <p:cNvSpPr/>
          <p:nvPr/>
        </p:nvSpPr>
        <p:spPr>
          <a:xfrm>
            <a:off x="1051560" y="3465576"/>
            <a:ext cx="7589520" cy="41148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Pass a new data point down every tree in the forest. Each tree independently returns a numeric insurance cost estimate based on the path the record takes through its learned branches and leaf values.</a:t>
            </a:r>
            <a:endParaRPr lang="en-US" sz="1100" dirty="0"/>
          </a:p>
        </p:txBody>
      </p:sp>
      <p:sp>
        <p:nvSpPr>
          <p:cNvPr id="22" name="Shape 20"/>
          <p:cNvSpPr/>
          <p:nvPr/>
        </p:nvSpPr>
        <p:spPr>
          <a:xfrm>
            <a:off x="365760" y="4032504"/>
            <a:ext cx="8412480" cy="868680"/>
          </a:xfrm>
          <a:prstGeom prst="rect">
            <a:avLst/>
          </a:prstGeom>
          <a:solidFill>
            <a:srgbClr val="ECEAE3"/>
          </a:solidFill>
          <a:ln w="12700">
            <a:solidFill>
              <a:srgbClr val="E0DDD4"/>
            </a:solidFill>
            <a:prstDash val="solid"/>
          </a:ln>
        </p:spPr>
        <p:txBody>
          <a:bodyPr/>
          <a:lstStyle/>
          <a:p>
            <a:endParaRPr lang="en-US"/>
          </a:p>
        </p:txBody>
      </p:sp>
      <p:sp>
        <p:nvSpPr>
          <p:cNvPr id="23" name="Shape 21"/>
          <p:cNvSpPr/>
          <p:nvPr/>
        </p:nvSpPr>
        <p:spPr>
          <a:xfrm>
            <a:off x="457200" y="4215384"/>
            <a:ext cx="457200" cy="457200"/>
          </a:xfrm>
          <a:prstGeom prst="ellipse">
            <a:avLst/>
          </a:prstGeom>
          <a:solidFill>
            <a:srgbClr val="1A3C2B"/>
          </a:solidFill>
          <a:ln w="12700">
            <a:solidFill>
              <a:srgbClr val="1A3C2B"/>
            </a:solidFill>
            <a:prstDash val="solid"/>
          </a:ln>
        </p:spPr>
        <p:txBody>
          <a:bodyPr/>
          <a:lstStyle/>
          <a:p>
            <a:endParaRPr lang="en-US"/>
          </a:p>
        </p:txBody>
      </p:sp>
      <p:sp>
        <p:nvSpPr>
          <p:cNvPr id="24" name="Text 22"/>
          <p:cNvSpPr/>
          <p:nvPr/>
        </p:nvSpPr>
        <p:spPr>
          <a:xfrm>
            <a:off x="457200" y="42153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5" name="Text 23"/>
          <p:cNvSpPr/>
          <p:nvPr/>
        </p:nvSpPr>
        <p:spPr>
          <a:xfrm>
            <a:off x="1051560" y="4105656"/>
            <a:ext cx="2743200" cy="292608"/>
          </a:xfrm>
          <a:prstGeom prst="rect">
            <a:avLst/>
          </a:prstGeom>
          <a:noFill/>
          <a:ln/>
        </p:spPr>
        <p:txBody>
          <a:bodyPr wrap="square" lIns="0" tIns="0" rIns="0" bIns="0" rtlCol="0" anchor="ctr"/>
          <a:lstStyle/>
          <a:p>
            <a:pPr marL="0" indent="0">
              <a:buNone/>
            </a:pPr>
            <a:r>
              <a:rPr lang="en-US" sz="1200" b="1" dirty="0">
                <a:solidFill>
                  <a:srgbClr val="1A3C2B"/>
                </a:solidFill>
                <a:latin typeface="Calibri" pitchFamily="34" charset="0"/>
                <a:ea typeface="Calibri" pitchFamily="34" charset="-122"/>
                <a:cs typeface="Calibri" pitchFamily="34" charset="-120"/>
              </a:rPr>
              <a:t>Average the Outputs</a:t>
            </a:r>
            <a:endParaRPr lang="en-US" sz="1200" dirty="0"/>
          </a:p>
        </p:txBody>
      </p:sp>
      <p:sp>
        <p:nvSpPr>
          <p:cNvPr id="26" name="Text 24"/>
          <p:cNvSpPr/>
          <p:nvPr/>
        </p:nvSpPr>
        <p:spPr>
          <a:xfrm>
            <a:off x="1051560" y="4443984"/>
            <a:ext cx="7589520" cy="41148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The final prediction is the arithmetic mean of all 200 tree predictions. Averaging smooths out individual tree errors — the random noise cancels, the consistent signal strengthens. Result: R² = 0.884.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When to Use  ·  Advantages  ·  Limitations</a:t>
            </a:r>
            <a:endParaRPr lang="en-US" sz="2400" dirty="0"/>
          </a:p>
        </p:txBody>
      </p:sp>
      <p:sp>
        <p:nvSpPr>
          <p:cNvPr id="4" name="Shape 2"/>
          <p:cNvSpPr/>
          <p:nvPr/>
        </p:nvSpPr>
        <p:spPr>
          <a:xfrm>
            <a:off x="365760" y="1097280"/>
            <a:ext cx="2606040" cy="3611880"/>
          </a:xfrm>
          <a:prstGeom prst="rect">
            <a:avLst/>
          </a:prstGeom>
          <a:solidFill>
            <a:srgbClr val="1A3C2B"/>
          </a:solidFill>
          <a:ln w="12700">
            <a:solidFill>
              <a:srgbClr val="1A3C2B"/>
            </a:solidFill>
            <a:prstDash val="solid"/>
          </a:ln>
        </p:spPr>
        <p:txBody>
          <a:bodyPr/>
          <a:lstStyle/>
          <a:p>
            <a:endParaRPr lang="en-US"/>
          </a:p>
        </p:txBody>
      </p:sp>
      <p:sp>
        <p:nvSpPr>
          <p:cNvPr id="5" name="Text 3"/>
          <p:cNvSpPr/>
          <p:nvPr/>
        </p:nvSpPr>
        <p:spPr>
          <a:xfrm>
            <a:off x="457200" y="1188720"/>
            <a:ext cx="2423160" cy="320040"/>
          </a:xfrm>
          <a:prstGeom prst="rect">
            <a:avLst/>
          </a:prstGeom>
          <a:noFill/>
          <a:ln/>
        </p:spPr>
        <p:txBody>
          <a:bodyPr wrap="square" lIns="0" tIns="0" rIns="0" bIns="0" rtlCol="0" anchor="ctr"/>
          <a:lstStyle/>
          <a:p>
            <a:pPr marL="0" indent="0">
              <a:buNone/>
            </a:pPr>
            <a:r>
              <a:rPr lang="en-US" sz="1000" b="1" kern="0" spc="200" dirty="0">
                <a:solidFill>
                  <a:srgbClr val="C8963E"/>
                </a:solidFill>
                <a:latin typeface="Calibri" pitchFamily="34" charset="0"/>
                <a:ea typeface="Calibri" pitchFamily="34" charset="-122"/>
                <a:cs typeface="Calibri" pitchFamily="34" charset="-120"/>
              </a:rPr>
              <a:t>WHEN TO USE</a:t>
            </a:r>
            <a:endParaRPr lang="en-US" sz="1000" dirty="0"/>
          </a:p>
        </p:txBody>
      </p:sp>
      <p:sp>
        <p:nvSpPr>
          <p:cNvPr id="6" name="Text 4"/>
          <p:cNvSpPr/>
          <p:nvPr/>
        </p:nvSpPr>
        <p:spPr>
          <a:xfrm>
            <a:off x="457200" y="1600200"/>
            <a:ext cx="2377440" cy="301752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D0E8DC"/>
                </a:solidFill>
                <a:latin typeface="Calibri" pitchFamily="34" charset="0"/>
                <a:ea typeface="Calibri" pitchFamily="34" charset="-122"/>
                <a:cs typeface="Calibri" pitchFamily="34" charset="-120"/>
              </a:rPr>
              <a:t>Dataset has many features with complex, non-linear interactions</a:t>
            </a:r>
            <a:endParaRPr lang="en-US" sz="1050" dirty="0"/>
          </a:p>
          <a:p>
            <a:pPr marL="342900" indent="-342900">
              <a:spcAft>
                <a:spcPts val="600"/>
              </a:spcAft>
              <a:buSzPct val="100000"/>
              <a:buChar char="•"/>
            </a:pPr>
            <a:r>
              <a:rPr lang="en-US" sz="1050" dirty="0">
                <a:solidFill>
                  <a:srgbClr val="D0E8DC"/>
                </a:solidFill>
                <a:latin typeface="Calibri" pitchFamily="34" charset="0"/>
                <a:ea typeface="Calibri" pitchFamily="34" charset="-122"/>
                <a:cs typeface="Calibri" pitchFamily="34" charset="-120"/>
              </a:rPr>
              <a:t>You suspect interactions between variables (e.g. smoker × BMI)</a:t>
            </a:r>
            <a:endParaRPr lang="en-US" sz="1050" dirty="0"/>
          </a:p>
          <a:p>
            <a:pPr marL="342900" indent="-342900">
              <a:spcAft>
                <a:spcPts val="600"/>
              </a:spcAft>
              <a:buSzPct val="100000"/>
              <a:buChar char="•"/>
            </a:pPr>
            <a:r>
              <a:rPr lang="en-US" sz="1050" dirty="0">
                <a:solidFill>
                  <a:srgbClr val="D0E8DC"/>
                </a:solidFill>
                <a:latin typeface="Calibri" pitchFamily="34" charset="0"/>
                <a:ea typeface="Calibri" pitchFamily="34" charset="-122"/>
                <a:cs typeface="Calibri" pitchFamily="34" charset="-120"/>
              </a:rPr>
              <a:t>Outliers or noise are present in the data</a:t>
            </a:r>
            <a:endParaRPr lang="en-US" sz="1050" dirty="0"/>
          </a:p>
          <a:p>
            <a:pPr marL="342900" indent="-342900">
              <a:spcAft>
                <a:spcPts val="600"/>
              </a:spcAft>
              <a:buSzPct val="100000"/>
              <a:buChar char="•"/>
            </a:pPr>
            <a:r>
              <a:rPr lang="en-US" sz="1050" dirty="0">
                <a:solidFill>
                  <a:srgbClr val="D0E8DC"/>
                </a:solidFill>
                <a:latin typeface="Calibri" pitchFamily="34" charset="0"/>
                <a:ea typeface="Calibri" pitchFamily="34" charset="-122"/>
                <a:cs typeface="Calibri" pitchFamily="34" charset="-120"/>
              </a:rPr>
              <a:t>High prediction accuracy matters more than model interpretability</a:t>
            </a:r>
            <a:endParaRPr lang="en-US" sz="1050" dirty="0"/>
          </a:p>
          <a:p>
            <a:pPr marL="342900" indent="-342900">
              <a:spcAft>
                <a:spcPts val="600"/>
              </a:spcAft>
              <a:buSzPct val="100000"/>
              <a:buChar char="•"/>
            </a:pPr>
            <a:r>
              <a:rPr lang="en-US" sz="1050" dirty="0">
                <a:solidFill>
                  <a:srgbClr val="D0E8DC"/>
                </a:solidFill>
                <a:latin typeface="Calibri" pitchFamily="34" charset="0"/>
                <a:ea typeface="Calibri" pitchFamily="34" charset="-122"/>
                <a:cs typeface="Calibri" pitchFamily="34" charset="-120"/>
              </a:rPr>
              <a:t>You need built-in, reliable feature importance estimates</a:t>
            </a:r>
            <a:endParaRPr lang="en-US" sz="1050" dirty="0"/>
          </a:p>
        </p:txBody>
      </p:sp>
      <p:sp>
        <p:nvSpPr>
          <p:cNvPr id="7" name="Shape 5"/>
          <p:cNvSpPr/>
          <p:nvPr/>
        </p:nvSpPr>
        <p:spPr>
          <a:xfrm>
            <a:off x="3108960" y="1097280"/>
            <a:ext cx="2606040" cy="3611880"/>
          </a:xfrm>
          <a:prstGeom prst="rect">
            <a:avLst/>
          </a:prstGeom>
          <a:solidFill>
            <a:srgbClr val="FFFFFF"/>
          </a:solidFill>
          <a:ln w="12700">
            <a:solidFill>
              <a:srgbClr val="E0DDD4"/>
            </a:solidFill>
            <a:prstDash val="solid"/>
          </a:ln>
        </p:spPr>
        <p:txBody>
          <a:bodyPr/>
          <a:lstStyle/>
          <a:p>
            <a:endParaRPr lang="en-US"/>
          </a:p>
        </p:txBody>
      </p:sp>
      <p:sp>
        <p:nvSpPr>
          <p:cNvPr id="8" name="Shape 6"/>
          <p:cNvSpPr/>
          <p:nvPr/>
        </p:nvSpPr>
        <p:spPr>
          <a:xfrm>
            <a:off x="3108960" y="1097280"/>
            <a:ext cx="2606040" cy="420624"/>
          </a:xfrm>
          <a:prstGeom prst="rect">
            <a:avLst/>
          </a:prstGeom>
          <a:solidFill>
            <a:srgbClr val="4A7C59"/>
          </a:solidFill>
          <a:ln w="12700">
            <a:solidFill>
              <a:srgbClr val="4A7C59"/>
            </a:solidFill>
            <a:prstDash val="solid"/>
          </a:ln>
        </p:spPr>
        <p:txBody>
          <a:bodyPr/>
          <a:lstStyle/>
          <a:p>
            <a:endParaRPr lang="en-US"/>
          </a:p>
        </p:txBody>
      </p:sp>
      <p:sp>
        <p:nvSpPr>
          <p:cNvPr id="9" name="Text 7"/>
          <p:cNvSpPr/>
          <p:nvPr/>
        </p:nvSpPr>
        <p:spPr>
          <a:xfrm>
            <a:off x="3200400" y="1161288"/>
            <a:ext cx="2423160" cy="301752"/>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ADVANTAGES</a:t>
            </a:r>
            <a:endParaRPr lang="en-US" sz="1000" dirty="0"/>
          </a:p>
        </p:txBody>
      </p:sp>
      <p:sp>
        <p:nvSpPr>
          <p:cNvPr id="10" name="Text 8"/>
          <p:cNvSpPr/>
          <p:nvPr/>
        </p:nvSpPr>
        <p:spPr>
          <a:xfrm>
            <a:off x="3200400" y="1600200"/>
            <a:ext cx="2377440" cy="301752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Very high accuracy — consistently outperforms single models on tabular data</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Highly resistant to overfitting due to the averaging effect</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Handles mixed data types (numeric + categorical) gracefully</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Provides reliable feature importance rankings</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Minimal hyperparameter tuning needed — works well out of the box</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Robust to outliers — no single noisy point can dominate</a:t>
            </a:r>
            <a:endParaRPr lang="en-US" sz="1050" dirty="0"/>
          </a:p>
        </p:txBody>
      </p:sp>
      <p:sp>
        <p:nvSpPr>
          <p:cNvPr id="11" name="Shape 9"/>
          <p:cNvSpPr/>
          <p:nvPr/>
        </p:nvSpPr>
        <p:spPr>
          <a:xfrm>
            <a:off x="5852160" y="1097280"/>
            <a:ext cx="2926080" cy="3611880"/>
          </a:xfrm>
          <a:prstGeom prst="rect">
            <a:avLst/>
          </a:prstGeom>
          <a:solidFill>
            <a:srgbClr val="FFFFFF"/>
          </a:solidFill>
          <a:ln w="12700">
            <a:solidFill>
              <a:srgbClr val="E0DDD4"/>
            </a:solidFill>
            <a:prstDash val="solid"/>
          </a:ln>
        </p:spPr>
        <p:txBody>
          <a:bodyPr/>
          <a:lstStyle/>
          <a:p>
            <a:endParaRPr lang="en-US"/>
          </a:p>
        </p:txBody>
      </p:sp>
      <p:sp>
        <p:nvSpPr>
          <p:cNvPr id="12" name="Shape 10"/>
          <p:cNvSpPr/>
          <p:nvPr/>
        </p:nvSpPr>
        <p:spPr>
          <a:xfrm>
            <a:off x="5852160" y="1097280"/>
            <a:ext cx="2926080" cy="420624"/>
          </a:xfrm>
          <a:prstGeom prst="rect">
            <a:avLst/>
          </a:prstGeom>
          <a:solidFill>
            <a:srgbClr val="B85042"/>
          </a:solidFill>
          <a:ln w="12700">
            <a:solidFill>
              <a:srgbClr val="B85042"/>
            </a:solidFill>
            <a:prstDash val="solid"/>
          </a:ln>
        </p:spPr>
        <p:txBody>
          <a:bodyPr/>
          <a:lstStyle/>
          <a:p>
            <a:endParaRPr lang="en-US"/>
          </a:p>
        </p:txBody>
      </p:sp>
      <p:sp>
        <p:nvSpPr>
          <p:cNvPr id="13" name="Text 11"/>
          <p:cNvSpPr/>
          <p:nvPr/>
        </p:nvSpPr>
        <p:spPr>
          <a:xfrm>
            <a:off x="5943600" y="1161288"/>
            <a:ext cx="2743200" cy="301752"/>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LIMITATIONS</a:t>
            </a:r>
            <a:endParaRPr lang="en-US" sz="1000" dirty="0"/>
          </a:p>
        </p:txBody>
      </p:sp>
      <p:sp>
        <p:nvSpPr>
          <p:cNvPr id="14" name="Text 12"/>
          <p:cNvSpPr/>
          <p:nvPr/>
        </p:nvSpPr>
        <p:spPr>
          <a:xfrm>
            <a:off x="5943600" y="1600200"/>
            <a:ext cx="2743200" cy="301752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Difficult to interpret — a 'black box' compared to linear models</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Slow prediction in production with 200+ trees</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High memory usage for storing many fully grown trees</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Poor extrapolation beyond the range of training data</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Biased toward features with many unique values</a:t>
            </a:r>
            <a:endParaRPr lang="en-US" sz="1050" dirty="0"/>
          </a:p>
          <a:p>
            <a:pPr marL="342900" indent="-342900">
              <a:spcAft>
                <a:spcPts val="500"/>
              </a:spcAft>
              <a:buSzPct val="100000"/>
              <a:buChar char="•"/>
            </a:pPr>
            <a:r>
              <a:rPr lang="en-US" sz="1050" dirty="0">
                <a:solidFill>
                  <a:srgbClr val="2D2D2D"/>
                </a:solidFill>
                <a:latin typeface="Calibri" pitchFamily="34" charset="0"/>
                <a:ea typeface="Calibri" pitchFamily="34" charset="-122"/>
                <a:cs typeface="Calibri" pitchFamily="34" charset="-120"/>
              </a:rPr>
              <a:t>Slower to train than simpler models on very large datasets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3C2B"/>
        </a:solidFill>
        <a:effectLst/>
      </p:bgPr>
    </p:bg>
    <p:spTree>
      <p:nvGrpSpPr>
        <p:cNvPr id="1" name=""/>
        <p:cNvGrpSpPr/>
        <p:nvPr/>
      </p:nvGrpSpPr>
      <p:grpSpPr>
        <a:xfrm>
          <a:off x="0" y="0"/>
          <a:ext cx="0" cy="0"/>
          <a:chOff x="0" y="0"/>
          <a:chExt cx="0" cy="0"/>
        </a:xfrm>
      </p:grpSpPr>
      <p:sp>
        <p:nvSpPr>
          <p:cNvPr id="2" name="Text 0"/>
          <p:cNvSpPr/>
          <p:nvPr/>
        </p:nvSpPr>
        <p:spPr>
          <a:xfrm>
            <a:off x="5303520" y="-274320"/>
            <a:ext cx="4114800" cy="5669280"/>
          </a:xfrm>
          <a:prstGeom prst="rect">
            <a:avLst/>
          </a:prstGeom>
          <a:noFill/>
          <a:ln/>
        </p:spPr>
        <p:txBody>
          <a:bodyPr wrap="square" lIns="0" tIns="0" rIns="0" bIns="0" rtlCol="0" anchor="ctr"/>
          <a:lstStyle/>
          <a:p>
            <a:pPr marL="0" indent="0" algn="r">
              <a:buNone/>
            </a:pPr>
            <a:r>
              <a:rPr lang="en-US" sz="24000" b="1" dirty="0">
                <a:solidFill>
                  <a:srgbClr val="2C5F2D"/>
                </a:solidFill>
                <a:latin typeface="Georgia" pitchFamily="34" charset="0"/>
                <a:ea typeface="Georgia" pitchFamily="34" charset="-122"/>
                <a:cs typeface="Georgia" pitchFamily="34" charset="-120"/>
              </a:rPr>
              <a:t>02</a:t>
            </a:r>
            <a:endParaRPr lang="en-US" sz="24000" dirty="0"/>
          </a:p>
        </p:txBody>
      </p:sp>
      <p:sp>
        <p:nvSpPr>
          <p:cNvPr id="3" name="Shape 1"/>
          <p:cNvSpPr/>
          <p:nvPr/>
        </p:nvSpPr>
        <p:spPr>
          <a:xfrm>
            <a:off x="457200" y="1371600"/>
            <a:ext cx="73152" cy="2468880"/>
          </a:xfrm>
          <a:prstGeom prst="rect">
            <a:avLst/>
          </a:prstGeom>
          <a:solidFill>
            <a:srgbClr val="C8963E"/>
          </a:solidFill>
          <a:ln w="12700">
            <a:solidFill>
              <a:srgbClr val="C8963E"/>
            </a:solidFill>
            <a:prstDash val="solid"/>
          </a:ln>
        </p:spPr>
        <p:txBody>
          <a:bodyPr/>
          <a:lstStyle/>
          <a:p>
            <a:endParaRPr lang="en-US"/>
          </a:p>
        </p:txBody>
      </p:sp>
      <p:sp>
        <p:nvSpPr>
          <p:cNvPr id="4" name="Text 2"/>
          <p:cNvSpPr/>
          <p:nvPr/>
        </p:nvSpPr>
        <p:spPr>
          <a:xfrm>
            <a:off x="685800" y="1417320"/>
            <a:ext cx="5029200" cy="1920240"/>
          </a:xfrm>
          <a:prstGeom prst="rect">
            <a:avLst/>
          </a:prstGeom>
          <a:noFill/>
          <a:ln/>
        </p:spPr>
        <p:txBody>
          <a:bodyPr wrap="square" lIns="0" tIns="0" rIns="0" bIns="0" rtlCol="0" anchor="t"/>
          <a:lstStyle/>
          <a:p>
            <a:pPr marL="0" indent="0" algn="l">
              <a:buNone/>
            </a:pPr>
            <a:r>
              <a:rPr lang="en-US" sz="4200" b="1" dirty="0">
                <a:solidFill>
                  <a:srgbClr val="FFFFFF"/>
                </a:solidFill>
                <a:latin typeface="Georgia" pitchFamily="34" charset="0"/>
                <a:ea typeface="Georgia" pitchFamily="34" charset="-122"/>
                <a:cs typeface="Georgia" pitchFamily="34" charset="-120"/>
              </a:rPr>
              <a:t>Dataset</a:t>
            </a:r>
            <a:endParaRPr lang="en-US" sz="4200" dirty="0"/>
          </a:p>
          <a:p>
            <a:pPr marL="0" indent="0" algn="l">
              <a:buNone/>
            </a:pPr>
            <a:r>
              <a:rPr lang="en-US" sz="4200" b="1" dirty="0">
                <a:solidFill>
                  <a:srgbClr val="FFFFFF"/>
                </a:solidFill>
                <a:latin typeface="Georgia" pitchFamily="34" charset="0"/>
                <a:ea typeface="Georgia" pitchFamily="34" charset="-122"/>
                <a:cs typeface="Georgia" pitchFamily="34" charset="-120"/>
              </a:rPr>
              <a:t>Overview</a:t>
            </a:r>
            <a:endParaRPr lang="en-US" sz="4200" dirty="0"/>
          </a:p>
        </p:txBody>
      </p:sp>
      <p:sp>
        <p:nvSpPr>
          <p:cNvPr id="5" name="Text 3"/>
          <p:cNvSpPr/>
          <p:nvPr/>
        </p:nvSpPr>
        <p:spPr>
          <a:xfrm>
            <a:off x="685800" y="3429000"/>
            <a:ext cx="5029200" cy="914400"/>
          </a:xfrm>
          <a:prstGeom prst="rect">
            <a:avLst/>
          </a:prstGeom>
          <a:noFill/>
          <a:ln/>
        </p:spPr>
        <p:txBody>
          <a:bodyPr wrap="square" lIns="0" tIns="0" rIns="0" bIns="0" rtlCol="0" anchor="t"/>
          <a:lstStyle/>
          <a:p>
            <a:pPr marL="0" indent="0" algn="l">
              <a:buNone/>
            </a:pPr>
            <a:r>
              <a:rPr lang="en-US" sz="1400" dirty="0">
                <a:solidFill>
                  <a:srgbClr val="A8C5B5"/>
                </a:solidFill>
                <a:latin typeface="Calibri" pitchFamily="34" charset="0"/>
                <a:ea typeface="Calibri" pitchFamily="34" charset="-122"/>
                <a:cs typeface="Calibri" pitchFamily="34" charset="-120"/>
              </a:rPr>
              <a:t>Medical Cost Personal Dataset — 1,337 records, 6 features, 1 target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Dataset Structure &amp; Features</a:t>
            </a:r>
            <a:endParaRPr lang="en-US" sz="2600" dirty="0"/>
          </a:p>
        </p:txBody>
      </p:sp>
      <p:sp>
        <p:nvSpPr>
          <p:cNvPr id="4" name="Shape 2"/>
          <p:cNvSpPr/>
          <p:nvPr/>
        </p:nvSpPr>
        <p:spPr>
          <a:xfrm>
            <a:off x="365760" y="1051560"/>
            <a:ext cx="1920240" cy="868680"/>
          </a:xfrm>
          <a:prstGeom prst="rect">
            <a:avLst/>
          </a:prstGeom>
          <a:solidFill>
            <a:srgbClr val="1A3C2B"/>
          </a:solidFill>
          <a:ln w="12700">
            <a:solidFill>
              <a:srgbClr val="1A3C2B"/>
            </a:solidFill>
            <a:prstDash val="solid"/>
          </a:ln>
        </p:spPr>
        <p:txBody>
          <a:bodyPr/>
          <a:lstStyle/>
          <a:p>
            <a:endParaRPr lang="en-US"/>
          </a:p>
        </p:txBody>
      </p:sp>
      <p:sp>
        <p:nvSpPr>
          <p:cNvPr id="5" name="Text 3"/>
          <p:cNvSpPr/>
          <p:nvPr/>
        </p:nvSpPr>
        <p:spPr>
          <a:xfrm>
            <a:off x="365760" y="1078992"/>
            <a:ext cx="1920240" cy="502920"/>
          </a:xfrm>
          <a:prstGeom prst="rect">
            <a:avLst/>
          </a:prstGeom>
          <a:noFill/>
          <a:ln/>
        </p:spPr>
        <p:txBody>
          <a:bodyPr wrap="square" lIns="0" tIns="0" rIns="0" bIns="0" rtlCol="0" anchor="ctr"/>
          <a:lstStyle/>
          <a:p>
            <a:pPr marL="0" indent="0" algn="ctr">
              <a:buNone/>
            </a:pPr>
            <a:r>
              <a:rPr lang="en-US" sz="3000" b="1" dirty="0">
                <a:solidFill>
                  <a:srgbClr val="C8963E"/>
                </a:solidFill>
                <a:latin typeface="Georgia" pitchFamily="34" charset="0"/>
                <a:ea typeface="Georgia" pitchFamily="34" charset="-122"/>
                <a:cs typeface="Georgia" pitchFamily="34" charset="-120"/>
              </a:rPr>
              <a:t>1,337</a:t>
            </a:r>
            <a:endParaRPr lang="en-US" sz="3000" dirty="0"/>
          </a:p>
        </p:txBody>
      </p:sp>
      <p:sp>
        <p:nvSpPr>
          <p:cNvPr id="6" name="Text 4"/>
          <p:cNvSpPr/>
          <p:nvPr/>
        </p:nvSpPr>
        <p:spPr>
          <a:xfrm>
            <a:off x="365760" y="1600200"/>
            <a:ext cx="1920240" cy="256032"/>
          </a:xfrm>
          <a:prstGeom prst="rect">
            <a:avLst/>
          </a:prstGeom>
          <a:noFill/>
          <a:ln/>
        </p:spPr>
        <p:txBody>
          <a:bodyPr wrap="square" lIns="0" tIns="0" rIns="0" bIns="0" rtlCol="0" anchor="ctr"/>
          <a:lstStyle/>
          <a:p>
            <a:pPr marL="0" indent="0" algn="ctr">
              <a:buNone/>
            </a:pPr>
            <a:r>
              <a:rPr lang="en-US" sz="1000" dirty="0">
                <a:solidFill>
                  <a:srgbClr val="A8C5B5"/>
                </a:solidFill>
                <a:latin typeface="Calibri" pitchFamily="34" charset="0"/>
                <a:ea typeface="Calibri" pitchFamily="34" charset="-122"/>
                <a:cs typeface="Calibri" pitchFamily="34" charset="-120"/>
              </a:rPr>
              <a:t>Rows (after dedup)</a:t>
            </a:r>
            <a:endParaRPr lang="en-US" sz="1000" dirty="0"/>
          </a:p>
        </p:txBody>
      </p:sp>
      <p:sp>
        <p:nvSpPr>
          <p:cNvPr id="7" name="Shape 5"/>
          <p:cNvSpPr/>
          <p:nvPr/>
        </p:nvSpPr>
        <p:spPr>
          <a:xfrm>
            <a:off x="2468880" y="1051560"/>
            <a:ext cx="1920240" cy="868680"/>
          </a:xfrm>
          <a:prstGeom prst="rect">
            <a:avLst/>
          </a:prstGeom>
          <a:solidFill>
            <a:srgbClr val="1A3C2B"/>
          </a:solidFill>
          <a:ln w="12700">
            <a:solidFill>
              <a:srgbClr val="1A3C2B"/>
            </a:solidFill>
            <a:prstDash val="solid"/>
          </a:ln>
        </p:spPr>
        <p:txBody>
          <a:bodyPr/>
          <a:lstStyle/>
          <a:p>
            <a:endParaRPr lang="en-US"/>
          </a:p>
        </p:txBody>
      </p:sp>
      <p:sp>
        <p:nvSpPr>
          <p:cNvPr id="8" name="Text 6"/>
          <p:cNvSpPr/>
          <p:nvPr/>
        </p:nvSpPr>
        <p:spPr>
          <a:xfrm>
            <a:off x="2468880" y="1078992"/>
            <a:ext cx="1920240" cy="502920"/>
          </a:xfrm>
          <a:prstGeom prst="rect">
            <a:avLst/>
          </a:prstGeom>
          <a:noFill/>
          <a:ln/>
        </p:spPr>
        <p:txBody>
          <a:bodyPr wrap="square" lIns="0" tIns="0" rIns="0" bIns="0" rtlCol="0" anchor="ctr"/>
          <a:lstStyle/>
          <a:p>
            <a:pPr marL="0" indent="0" algn="ctr">
              <a:buNone/>
            </a:pPr>
            <a:r>
              <a:rPr lang="en-US" sz="3000" b="1" dirty="0">
                <a:solidFill>
                  <a:srgbClr val="C8963E"/>
                </a:solidFill>
                <a:latin typeface="Georgia" pitchFamily="34" charset="0"/>
                <a:ea typeface="Georgia" pitchFamily="34" charset="-122"/>
                <a:cs typeface="Georgia" pitchFamily="34" charset="-120"/>
              </a:rPr>
              <a:t>6</a:t>
            </a:r>
            <a:endParaRPr lang="en-US" sz="3000" dirty="0"/>
          </a:p>
        </p:txBody>
      </p:sp>
      <p:sp>
        <p:nvSpPr>
          <p:cNvPr id="9" name="Text 7"/>
          <p:cNvSpPr/>
          <p:nvPr/>
        </p:nvSpPr>
        <p:spPr>
          <a:xfrm>
            <a:off x="2468880" y="1600200"/>
            <a:ext cx="1920240" cy="256032"/>
          </a:xfrm>
          <a:prstGeom prst="rect">
            <a:avLst/>
          </a:prstGeom>
          <a:noFill/>
          <a:ln/>
        </p:spPr>
        <p:txBody>
          <a:bodyPr wrap="square" lIns="0" tIns="0" rIns="0" bIns="0" rtlCol="0" anchor="ctr"/>
          <a:lstStyle/>
          <a:p>
            <a:pPr marL="0" indent="0" algn="ctr">
              <a:buNone/>
            </a:pPr>
            <a:r>
              <a:rPr lang="en-US" sz="1000" dirty="0">
                <a:solidFill>
                  <a:srgbClr val="A8C5B5"/>
                </a:solidFill>
                <a:latin typeface="Calibri" pitchFamily="34" charset="0"/>
                <a:ea typeface="Calibri" pitchFamily="34" charset="-122"/>
                <a:cs typeface="Calibri" pitchFamily="34" charset="-120"/>
              </a:rPr>
              <a:t>Input Features</a:t>
            </a:r>
            <a:endParaRPr lang="en-US" sz="1000" dirty="0"/>
          </a:p>
        </p:txBody>
      </p:sp>
      <p:sp>
        <p:nvSpPr>
          <p:cNvPr id="10" name="Shape 8"/>
          <p:cNvSpPr/>
          <p:nvPr/>
        </p:nvSpPr>
        <p:spPr>
          <a:xfrm>
            <a:off x="4572000" y="1051560"/>
            <a:ext cx="1920240" cy="868680"/>
          </a:xfrm>
          <a:prstGeom prst="rect">
            <a:avLst/>
          </a:prstGeom>
          <a:solidFill>
            <a:srgbClr val="1A3C2B"/>
          </a:solidFill>
          <a:ln w="12700">
            <a:solidFill>
              <a:srgbClr val="1A3C2B"/>
            </a:solidFill>
            <a:prstDash val="solid"/>
          </a:ln>
        </p:spPr>
        <p:txBody>
          <a:bodyPr/>
          <a:lstStyle/>
          <a:p>
            <a:endParaRPr lang="en-US"/>
          </a:p>
        </p:txBody>
      </p:sp>
      <p:sp>
        <p:nvSpPr>
          <p:cNvPr id="11" name="Text 9"/>
          <p:cNvSpPr/>
          <p:nvPr/>
        </p:nvSpPr>
        <p:spPr>
          <a:xfrm>
            <a:off x="4572000" y="1078992"/>
            <a:ext cx="1920240" cy="502920"/>
          </a:xfrm>
          <a:prstGeom prst="rect">
            <a:avLst/>
          </a:prstGeom>
          <a:noFill/>
          <a:ln/>
        </p:spPr>
        <p:txBody>
          <a:bodyPr wrap="square" lIns="0" tIns="0" rIns="0" bIns="0" rtlCol="0" anchor="ctr"/>
          <a:lstStyle/>
          <a:p>
            <a:pPr marL="0" indent="0" algn="ctr">
              <a:buNone/>
            </a:pPr>
            <a:r>
              <a:rPr lang="en-US" sz="1800" b="1" dirty="0">
                <a:solidFill>
                  <a:srgbClr val="C8963E"/>
                </a:solidFill>
                <a:latin typeface="Georgia" pitchFamily="34" charset="0"/>
                <a:ea typeface="Georgia" pitchFamily="34" charset="-122"/>
                <a:cs typeface="Georgia" pitchFamily="34" charset="-120"/>
              </a:rPr>
              <a:t>expenses</a:t>
            </a:r>
            <a:endParaRPr lang="en-US" sz="1800" dirty="0"/>
          </a:p>
        </p:txBody>
      </p:sp>
      <p:sp>
        <p:nvSpPr>
          <p:cNvPr id="12" name="Text 10"/>
          <p:cNvSpPr/>
          <p:nvPr/>
        </p:nvSpPr>
        <p:spPr>
          <a:xfrm>
            <a:off x="4572000" y="1600200"/>
            <a:ext cx="1920240" cy="256032"/>
          </a:xfrm>
          <a:prstGeom prst="rect">
            <a:avLst/>
          </a:prstGeom>
          <a:noFill/>
          <a:ln/>
        </p:spPr>
        <p:txBody>
          <a:bodyPr wrap="square" lIns="0" tIns="0" rIns="0" bIns="0" rtlCol="0" anchor="ctr"/>
          <a:lstStyle/>
          <a:p>
            <a:pPr marL="0" indent="0" algn="ctr">
              <a:buNone/>
            </a:pPr>
            <a:r>
              <a:rPr lang="en-US" sz="1000" dirty="0">
                <a:solidFill>
                  <a:srgbClr val="A8C5B5"/>
                </a:solidFill>
                <a:latin typeface="Calibri" pitchFamily="34" charset="0"/>
                <a:ea typeface="Calibri" pitchFamily="34" charset="-122"/>
                <a:cs typeface="Calibri" pitchFamily="34" charset="-120"/>
              </a:rPr>
              <a:t>Target Variable</a:t>
            </a:r>
            <a:endParaRPr lang="en-US" sz="1000" dirty="0"/>
          </a:p>
        </p:txBody>
      </p:sp>
      <p:sp>
        <p:nvSpPr>
          <p:cNvPr id="13" name="Shape 11"/>
          <p:cNvSpPr/>
          <p:nvPr/>
        </p:nvSpPr>
        <p:spPr>
          <a:xfrm>
            <a:off x="6675120" y="1051560"/>
            <a:ext cx="1920240" cy="868680"/>
          </a:xfrm>
          <a:prstGeom prst="rect">
            <a:avLst/>
          </a:prstGeom>
          <a:solidFill>
            <a:srgbClr val="1A3C2B"/>
          </a:solidFill>
          <a:ln w="12700">
            <a:solidFill>
              <a:srgbClr val="1A3C2B"/>
            </a:solidFill>
            <a:prstDash val="solid"/>
          </a:ln>
        </p:spPr>
        <p:txBody>
          <a:bodyPr/>
          <a:lstStyle/>
          <a:p>
            <a:endParaRPr lang="en-US"/>
          </a:p>
        </p:txBody>
      </p:sp>
      <p:sp>
        <p:nvSpPr>
          <p:cNvPr id="14" name="Text 12"/>
          <p:cNvSpPr/>
          <p:nvPr/>
        </p:nvSpPr>
        <p:spPr>
          <a:xfrm>
            <a:off x="6675120" y="1078992"/>
            <a:ext cx="1920240" cy="502920"/>
          </a:xfrm>
          <a:prstGeom prst="rect">
            <a:avLst/>
          </a:prstGeom>
          <a:noFill/>
          <a:ln/>
        </p:spPr>
        <p:txBody>
          <a:bodyPr wrap="square" lIns="0" tIns="0" rIns="0" bIns="0" rtlCol="0" anchor="ctr"/>
          <a:lstStyle/>
          <a:p>
            <a:pPr marL="0" indent="0" algn="ctr">
              <a:buNone/>
            </a:pPr>
            <a:r>
              <a:rPr lang="en-US" sz="3000" b="1" dirty="0">
                <a:solidFill>
                  <a:srgbClr val="C8963E"/>
                </a:solidFill>
                <a:latin typeface="Georgia" pitchFamily="34" charset="0"/>
                <a:ea typeface="Georgia" pitchFamily="34" charset="-122"/>
                <a:cs typeface="Georgia" pitchFamily="34" charset="-120"/>
              </a:rPr>
              <a:t>0</a:t>
            </a:r>
            <a:endParaRPr lang="en-US" sz="3000" dirty="0"/>
          </a:p>
        </p:txBody>
      </p:sp>
      <p:sp>
        <p:nvSpPr>
          <p:cNvPr id="15" name="Text 13"/>
          <p:cNvSpPr/>
          <p:nvPr/>
        </p:nvSpPr>
        <p:spPr>
          <a:xfrm>
            <a:off x="6675120" y="1600200"/>
            <a:ext cx="1920240" cy="256032"/>
          </a:xfrm>
          <a:prstGeom prst="rect">
            <a:avLst/>
          </a:prstGeom>
          <a:noFill/>
          <a:ln/>
        </p:spPr>
        <p:txBody>
          <a:bodyPr wrap="square" lIns="0" tIns="0" rIns="0" bIns="0" rtlCol="0" anchor="ctr"/>
          <a:lstStyle/>
          <a:p>
            <a:pPr marL="0" indent="0" algn="ctr">
              <a:buNone/>
            </a:pPr>
            <a:r>
              <a:rPr lang="en-US" sz="1000" dirty="0">
                <a:solidFill>
                  <a:srgbClr val="A8C5B5"/>
                </a:solidFill>
                <a:latin typeface="Calibri" pitchFamily="34" charset="0"/>
                <a:ea typeface="Calibri" pitchFamily="34" charset="-122"/>
                <a:cs typeface="Calibri" pitchFamily="34" charset="-120"/>
              </a:rPr>
              <a:t>Missing Values</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2011680"/>
          <a:ext cx="7863840" cy="2834640"/>
        </p:xfrm>
        <a:graphic>
          <a:graphicData uri="http://schemas.openxmlformats.org/drawingml/2006/table">
            <a:tbl>
              <a:tblPr/>
              <a:tblGrid>
                <a:gridCol w="1097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54330">
                <a:tc>
                  <a:txBody>
                    <a:bodyPr/>
                    <a:lstStyle/>
                    <a:p>
                      <a:pPr marL="0" indent="0">
                        <a:buNone/>
                      </a:pPr>
                      <a:r>
                        <a:rPr lang="en-US" sz="1100" b="1" dirty="0">
                          <a:solidFill>
                            <a:srgbClr val="FFFFFF"/>
                          </a:solidFill>
                        </a:rPr>
                        <a:t>Feature</a:t>
                      </a:r>
                      <a:endParaRPr lang="en-US" sz="110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1A3C2B"/>
                    </a:solidFill>
                  </a:tcPr>
                </a:tc>
                <a:tc>
                  <a:txBody>
                    <a:bodyPr/>
                    <a:lstStyle/>
                    <a:p>
                      <a:pPr marL="0" indent="0">
                        <a:buNone/>
                      </a:pPr>
                      <a:r>
                        <a:rPr lang="en-US" sz="1100" b="1" dirty="0">
                          <a:solidFill>
                            <a:srgbClr val="FFFFFF"/>
                          </a:solidFill>
                        </a:rPr>
                        <a:t>Type</a:t>
                      </a:r>
                      <a:endParaRPr lang="en-US" sz="110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1A3C2B"/>
                    </a:solidFill>
                  </a:tcPr>
                </a:tc>
                <a:tc>
                  <a:txBody>
                    <a:bodyPr/>
                    <a:lstStyle/>
                    <a:p>
                      <a:pPr marL="0" indent="0">
                        <a:buNone/>
                      </a:pPr>
                      <a:r>
                        <a:rPr lang="en-US" sz="1100" b="1" dirty="0">
                          <a:solidFill>
                            <a:srgbClr val="FFFFFF"/>
                          </a:solidFill>
                        </a:rPr>
                        <a:t>Description</a:t>
                      </a:r>
                      <a:endParaRPr lang="en-US" sz="110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1A3C2B"/>
                    </a:solidFill>
                  </a:tcPr>
                </a:tc>
                <a:tc>
                  <a:txBody>
                    <a:bodyPr/>
                    <a:lstStyle/>
                    <a:p>
                      <a:pPr marL="0" indent="0">
                        <a:buNone/>
                      </a:pPr>
                      <a:r>
                        <a:rPr lang="en-US" sz="1100" b="1" dirty="0">
                          <a:solidFill>
                            <a:srgbClr val="FFFFFF"/>
                          </a:solidFill>
                        </a:rPr>
                        <a:t>Range / Values</a:t>
                      </a:r>
                      <a:endParaRPr lang="en-US" sz="110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1A3C2B"/>
                    </a:solidFill>
                  </a:tcPr>
                </a:tc>
                <a:extLst>
                  <a:ext uri="{0D108BD9-81ED-4DB2-BD59-A6C34878D82A}">
                    <a16:rowId xmlns:a16="http://schemas.microsoft.com/office/drawing/2014/main" val="10000"/>
                  </a:ext>
                </a:extLst>
              </a:tr>
              <a:tr h="354330">
                <a:tc>
                  <a:txBody>
                    <a:bodyPr/>
                    <a:lstStyle/>
                    <a:p>
                      <a:pPr marL="0" indent="0">
                        <a:buNone/>
                      </a:pPr>
                      <a:r>
                        <a:rPr lang="en-US" sz="1050" dirty="0">
                          <a:solidFill>
                            <a:srgbClr val="2D2D2D"/>
                          </a:solidFill>
                        </a:rPr>
                        <a:t>age</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Numeric</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Primary policyholder age in years</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18 – 64</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4330">
                <a:tc>
                  <a:txBody>
                    <a:bodyPr/>
                    <a:lstStyle/>
                    <a:p>
                      <a:pPr marL="0" indent="0">
                        <a:buNone/>
                      </a:pPr>
                      <a:r>
                        <a:rPr lang="en-US" sz="1050" dirty="0">
                          <a:solidFill>
                            <a:srgbClr val="2D2D2D"/>
                          </a:solidFill>
                        </a:rPr>
                        <a:t>sex</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Categorical</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Biological sex of the insured</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male / female</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extLst>
                  <a:ext uri="{0D108BD9-81ED-4DB2-BD59-A6C34878D82A}">
                    <a16:rowId xmlns:a16="http://schemas.microsoft.com/office/drawing/2014/main" val="10002"/>
                  </a:ext>
                </a:extLst>
              </a:tr>
              <a:tr h="354330">
                <a:tc>
                  <a:txBody>
                    <a:bodyPr/>
                    <a:lstStyle/>
                    <a:p>
                      <a:pPr marL="0" indent="0">
                        <a:buNone/>
                      </a:pPr>
                      <a:r>
                        <a:rPr lang="en-US" sz="1050" dirty="0">
                          <a:solidFill>
                            <a:srgbClr val="2D2D2D"/>
                          </a:solidFill>
                        </a:rPr>
                        <a:t>bmi</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Numeric</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Body Mass Index (weight / height²)</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16.0 – 53.1</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4330">
                <a:tc>
                  <a:txBody>
                    <a:bodyPr/>
                    <a:lstStyle/>
                    <a:p>
                      <a:pPr marL="0" indent="0">
                        <a:buNone/>
                      </a:pPr>
                      <a:r>
                        <a:rPr lang="en-US" sz="1050" dirty="0">
                          <a:solidFill>
                            <a:srgbClr val="2D2D2D"/>
                          </a:solidFill>
                        </a:rPr>
                        <a:t>children</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Numeric</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Number of dependents on the policy</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0 – 5</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extLst>
                  <a:ext uri="{0D108BD9-81ED-4DB2-BD59-A6C34878D82A}">
                    <a16:rowId xmlns:a16="http://schemas.microsoft.com/office/drawing/2014/main" val="10004"/>
                  </a:ext>
                </a:extLst>
              </a:tr>
              <a:tr h="354330">
                <a:tc>
                  <a:txBody>
                    <a:bodyPr/>
                    <a:lstStyle/>
                    <a:p>
                      <a:pPr marL="0" indent="0">
                        <a:buNone/>
                      </a:pPr>
                      <a:r>
                        <a:rPr lang="en-US" sz="1050" dirty="0">
                          <a:solidFill>
                            <a:srgbClr val="2D2D2D"/>
                          </a:solidFill>
                        </a:rPr>
                        <a:t>smoker</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Categorical</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Whether the individual smokes tobacco</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yes / no</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4330">
                <a:tc>
                  <a:txBody>
                    <a:bodyPr/>
                    <a:lstStyle/>
                    <a:p>
                      <a:pPr marL="0" indent="0">
                        <a:buNone/>
                      </a:pPr>
                      <a:r>
                        <a:rPr lang="en-US" sz="1050" dirty="0">
                          <a:solidFill>
                            <a:srgbClr val="2D2D2D"/>
                          </a:solidFill>
                        </a:rPr>
                        <a:t>region</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Categorical</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US residential region (4 zones)</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tc>
                  <a:txBody>
                    <a:bodyPr/>
                    <a:lstStyle/>
                    <a:p>
                      <a:pPr marL="0" indent="0">
                        <a:buNone/>
                      </a:pPr>
                      <a:r>
                        <a:rPr lang="en-US" sz="1050" dirty="0">
                          <a:solidFill>
                            <a:srgbClr val="2D2D2D"/>
                          </a:solidFill>
                        </a:rPr>
                        <a:t>NE / NW / SE / SW</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ECEAE3"/>
                    </a:solidFill>
                  </a:tcPr>
                </a:tc>
                <a:extLst>
                  <a:ext uri="{0D108BD9-81ED-4DB2-BD59-A6C34878D82A}">
                    <a16:rowId xmlns:a16="http://schemas.microsoft.com/office/drawing/2014/main" val="10006"/>
                  </a:ext>
                </a:extLst>
              </a:tr>
              <a:tr h="354330">
                <a:tc>
                  <a:txBody>
                    <a:bodyPr/>
                    <a:lstStyle/>
                    <a:p>
                      <a:pPr marL="0" indent="0">
                        <a:buNone/>
                      </a:pPr>
                      <a:r>
                        <a:rPr lang="en-US" sz="1050" dirty="0">
                          <a:solidFill>
                            <a:srgbClr val="2D2D2D"/>
                          </a:solidFill>
                        </a:rPr>
                        <a:t>expenses</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Numeric (TARGET)</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Annual medical insurance billed (USD)</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dirty="0">
                          <a:solidFill>
                            <a:srgbClr val="2D2D2D"/>
                          </a:solidFill>
                        </a:rPr>
                        <a:t>$1,122 – $63,770</a:t>
                      </a:r>
                      <a:endParaRPr lang="en-US" sz="1050" dirty="0"/>
                    </a:p>
                  </a:txBody>
                  <a:tcPr>
                    <a:lnL w="12700" cap="flat" cmpd="sng" algn="ctr">
                      <a:solidFill>
                        <a:srgbClr val="D8D5CC"/>
                      </a:solidFill>
                      <a:prstDash val="solid"/>
                      <a:round/>
                      <a:headEnd type="none" w="med" len="med"/>
                      <a:tailEnd type="none" w="med" len="med"/>
                    </a:lnL>
                    <a:lnR w="12700" cap="flat" cmpd="sng" algn="ctr">
                      <a:solidFill>
                        <a:srgbClr val="D8D5CC"/>
                      </a:solidFill>
                      <a:prstDash val="solid"/>
                      <a:round/>
                      <a:headEnd type="none" w="med" len="med"/>
                      <a:tailEnd type="none" w="med" len="med"/>
                    </a:lnR>
                    <a:lnT w="12700" cap="flat" cmpd="sng" algn="ctr">
                      <a:solidFill>
                        <a:srgbClr val="D8D5CC"/>
                      </a:solidFill>
                      <a:prstDash val="solid"/>
                      <a:round/>
                      <a:headEnd type="none" w="med" len="med"/>
                      <a:tailEnd type="none" w="med" len="med"/>
                    </a:lnT>
                    <a:lnB w="1270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EDA 1 — Distribution of Insurance Expenses</a:t>
            </a:r>
            <a:endParaRPr lang="en-US" sz="2400" dirty="0"/>
          </a:p>
        </p:txBody>
      </p:sp>
      <p:pic>
        <p:nvPicPr>
          <p:cNvPr id="4" name="Image 0" descr="preencoded.png"/>
          <p:cNvPicPr>
            <a:picLocks noChangeAspect="1"/>
          </p:cNvPicPr>
          <p:nvPr/>
        </p:nvPicPr>
        <p:blipFill>
          <a:blip r:embed="rId3"/>
          <a:stretch>
            <a:fillRect/>
          </a:stretch>
        </p:blipFill>
        <p:spPr>
          <a:xfrm>
            <a:off x="1371600" y="1078992"/>
            <a:ext cx="6400800" cy="3794760"/>
          </a:xfrm>
          <a:prstGeom prst="rect">
            <a:avLst/>
          </a:prstGeom>
        </p:spPr>
      </p:pic>
      <p:sp>
        <p:nvSpPr>
          <p:cNvPr id="5" name="Shape 2"/>
          <p:cNvSpPr/>
          <p:nvPr/>
        </p:nvSpPr>
        <p:spPr>
          <a:xfrm>
            <a:off x="365760" y="4206240"/>
            <a:ext cx="8412480" cy="713232"/>
          </a:xfrm>
          <a:prstGeom prst="rect">
            <a:avLst/>
          </a:prstGeom>
          <a:solidFill>
            <a:srgbClr val="1A3C2B"/>
          </a:solidFill>
          <a:ln w="12700">
            <a:solidFill>
              <a:srgbClr val="1A3C2B"/>
            </a:solidFill>
            <a:prstDash val="solid"/>
          </a:ln>
        </p:spPr>
        <p:txBody>
          <a:bodyPr/>
          <a:lstStyle/>
          <a:p>
            <a:endParaRPr lang="en-US"/>
          </a:p>
        </p:txBody>
      </p:sp>
      <p:sp>
        <p:nvSpPr>
          <p:cNvPr id="6" name="Shape 3"/>
          <p:cNvSpPr/>
          <p:nvPr/>
        </p:nvSpPr>
        <p:spPr>
          <a:xfrm>
            <a:off x="411480" y="4279392"/>
            <a:ext cx="64008" cy="566928"/>
          </a:xfrm>
          <a:prstGeom prst="rect">
            <a:avLst/>
          </a:prstGeom>
          <a:solidFill>
            <a:srgbClr val="C8963E"/>
          </a:solidFill>
          <a:ln w="12700">
            <a:solidFill>
              <a:srgbClr val="C8963E"/>
            </a:solidFill>
            <a:prstDash val="solid"/>
          </a:ln>
        </p:spPr>
        <p:txBody>
          <a:bodyPr/>
          <a:lstStyle/>
          <a:p>
            <a:endParaRPr lang="en-US"/>
          </a:p>
        </p:txBody>
      </p:sp>
      <p:sp>
        <p:nvSpPr>
          <p:cNvPr id="7" name="Text 4"/>
          <p:cNvSpPr/>
          <p:nvPr/>
        </p:nvSpPr>
        <p:spPr>
          <a:xfrm>
            <a:off x="594360" y="4279392"/>
            <a:ext cx="8092440" cy="594360"/>
          </a:xfrm>
          <a:prstGeom prst="rect">
            <a:avLst/>
          </a:prstGeom>
          <a:noFill/>
          <a:ln/>
        </p:spPr>
        <p:txBody>
          <a:bodyPr wrap="square" lIns="0" tIns="0" rIns="0" bIns="0" rtlCol="0" anchor="ctr"/>
          <a:lstStyle/>
          <a:p>
            <a:pPr marL="0" indent="0">
              <a:buNone/>
            </a:pPr>
            <a:r>
              <a:rPr lang="en-US" sz="1100" dirty="0">
                <a:solidFill>
                  <a:srgbClr val="D0E8DC"/>
                </a:solidFill>
                <a:latin typeface="Calibri" pitchFamily="34" charset="0"/>
                <a:ea typeface="Calibri" pitchFamily="34" charset="-122"/>
                <a:cs typeface="Calibri" pitchFamily="34" charset="-120"/>
              </a:rPr>
              <a:t>The distribution is strongly right-skewed. Most policyholders pay $1k–$15k/year, while a second cluster around $30k–$50k reveals a distinct high-cost subgroup — almost certainly driven by smokers.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EDA 2 — Does Age Affect Insurance Expenses?</a:t>
            </a:r>
            <a:endParaRPr lang="en-US" sz="2400" dirty="0"/>
          </a:p>
        </p:txBody>
      </p:sp>
      <p:pic>
        <p:nvPicPr>
          <p:cNvPr id="4" name="Image 0" descr="preencoded.png"/>
          <p:cNvPicPr>
            <a:picLocks noChangeAspect="1"/>
          </p:cNvPicPr>
          <p:nvPr/>
        </p:nvPicPr>
        <p:blipFill>
          <a:blip r:embed="rId3"/>
          <a:stretch>
            <a:fillRect/>
          </a:stretch>
        </p:blipFill>
        <p:spPr>
          <a:xfrm>
            <a:off x="1371600" y="1078992"/>
            <a:ext cx="6400800" cy="3794760"/>
          </a:xfrm>
          <a:prstGeom prst="rect">
            <a:avLst/>
          </a:prstGeom>
        </p:spPr>
      </p:pic>
      <p:sp>
        <p:nvSpPr>
          <p:cNvPr id="5" name="Shape 2"/>
          <p:cNvSpPr/>
          <p:nvPr/>
        </p:nvSpPr>
        <p:spPr>
          <a:xfrm>
            <a:off x="365760" y="4206240"/>
            <a:ext cx="8412480" cy="713232"/>
          </a:xfrm>
          <a:prstGeom prst="rect">
            <a:avLst/>
          </a:prstGeom>
          <a:solidFill>
            <a:srgbClr val="1A3C2B"/>
          </a:solidFill>
          <a:ln w="12700">
            <a:solidFill>
              <a:srgbClr val="1A3C2B"/>
            </a:solidFill>
            <a:prstDash val="solid"/>
          </a:ln>
        </p:spPr>
        <p:txBody>
          <a:bodyPr/>
          <a:lstStyle/>
          <a:p>
            <a:endParaRPr lang="en-US"/>
          </a:p>
        </p:txBody>
      </p:sp>
      <p:sp>
        <p:nvSpPr>
          <p:cNvPr id="6" name="Shape 3"/>
          <p:cNvSpPr/>
          <p:nvPr/>
        </p:nvSpPr>
        <p:spPr>
          <a:xfrm>
            <a:off x="411480" y="4279392"/>
            <a:ext cx="64008" cy="566928"/>
          </a:xfrm>
          <a:prstGeom prst="rect">
            <a:avLst/>
          </a:prstGeom>
          <a:solidFill>
            <a:srgbClr val="C8963E"/>
          </a:solidFill>
          <a:ln w="12700">
            <a:solidFill>
              <a:srgbClr val="C8963E"/>
            </a:solidFill>
            <a:prstDash val="solid"/>
          </a:ln>
        </p:spPr>
        <p:txBody>
          <a:bodyPr/>
          <a:lstStyle/>
          <a:p>
            <a:endParaRPr lang="en-US"/>
          </a:p>
        </p:txBody>
      </p:sp>
      <p:sp>
        <p:nvSpPr>
          <p:cNvPr id="7" name="Text 4"/>
          <p:cNvSpPr/>
          <p:nvPr/>
        </p:nvSpPr>
        <p:spPr>
          <a:xfrm>
            <a:off x="594360" y="4279392"/>
            <a:ext cx="8092440" cy="594360"/>
          </a:xfrm>
          <a:prstGeom prst="rect">
            <a:avLst/>
          </a:prstGeom>
          <a:noFill/>
          <a:ln/>
        </p:spPr>
        <p:txBody>
          <a:bodyPr wrap="square" lIns="0" tIns="0" rIns="0" bIns="0" rtlCol="0" anchor="ctr"/>
          <a:lstStyle/>
          <a:p>
            <a:pPr marL="0" indent="0">
              <a:buNone/>
            </a:pPr>
            <a:r>
              <a:rPr lang="en-US" sz="1100" dirty="0">
                <a:solidFill>
                  <a:srgbClr val="D0E8DC"/>
                </a:solidFill>
                <a:latin typeface="Calibri" pitchFamily="34" charset="0"/>
                <a:ea typeface="Calibri" pitchFamily="34" charset="-122"/>
                <a:cs typeface="Calibri" pitchFamily="34" charset="-120"/>
              </a:rPr>
              <a:t>A clear positive relationship exists between age and medical expenses. The three distinct horizontal cost bands suggest another variable (smoking status) creates parallel subgroups that each rise with age independently.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EDA 3 — Do Smokers Pay Higher Insurance Expenses?</a:t>
            </a:r>
            <a:endParaRPr lang="en-US" sz="2300" dirty="0"/>
          </a:p>
        </p:txBody>
      </p:sp>
      <p:pic>
        <p:nvPicPr>
          <p:cNvPr id="4" name="Image 0" descr="preencoded.png"/>
          <p:cNvPicPr>
            <a:picLocks noChangeAspect="1"/>
          </p:cNvPicPr>
          <p:nvPr/>
        </p:nvPicPr>
        <p:blipFill>
          <a:blip r:embed="rId3"/>
          <a:stretch>
            <a:fillRect/>
          </a:stretch>
        </p:blipFill>
        <p:spPr>
          <a:xfrm>
            <a:off x="1371600" y="1078992"/>
            <a:ext cx="6400800" cy="3200400"/>
          </a:xfrm>
          <a:prstGeom prst="rect">
            <a:avLst/>
          </a:prstGeom>
        </p:spPr>
      </p:pic>
      <p:sp>
        <p:nvSpPr>
          <p:cNvPr id="5" name="Shape 2"/>
          <p:cNvSpPr/>
          <p:nvPr/>
        </p:nvSpPr>
        <p:spPr>
          <a:xfrm>
            <a:off x="365760" y="4407408"/>
            <a:ext cx="3200400" cy="548640"/>
          </a:xfrm>
          <a:prstGeom prst="rect">
            <a:avLst/>
          </a:prstGeom>
          <a:solidFill>
            <a:srgbClr val="B85042"/>
          </a:solidFill>
          <a:ln w="12700">
            <a:solidFill>
              <a:srgbClr val="B85042"/>
            </a:solidFill>
            <a:prstDash val="solid"/>
          </a:ln>
        </p:spPr>
        <p:txBody>
          <a:bodyPr/>
          <a:lstStyle/>
          <a:p>
            <a:endParaRPr lang="en-US"/>
          </a:p>
        </p:txBody>
      </p:sp>
      <p:sp>
        <p:nvSpPr>
          <p:cNvPr id="6" name="Text 3"/>
          <p:cNvSpPr/>
          <p:nvPr/>
        </p:nvSpPr>
        <p:spPr>
          <a:xfrm>
            <a:off x="365760" y="4407408"/>
            <a:ext cx="3200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$32,050  Avg — Smokers</a:t>
            </a:r>
            <a:endParaRPr lang="en-US" sz="1300" dirty="0"/>
          </a:p>
        </p:txBody>
      </p:sp>
      <p:sp>
        <p:nvSpPr>
          <p:cNvPr id="7" name="Shape 4"/>
          <p:cNvSpPr/>
          <p:nvPr/>
        </p:nvSpPr>
        <p:spPr>
          <a:xfrm>
            <a:off x="5212080" y="4407408"/>
            <a:ext cx="3200400" cy="548640"/>
          </a:xfrm>
          <a:prstGeom prst="rect">
            <a:avLst/>
          </a:prstGeom>
          <a:solidFill>
            <a:srgbClr val="4A7C59"/>
          </a:solidFill>
          <a:ln w="12700">
            <a:solidFill>
              <a:srgbClr val="4A7C59"/>
            </a:solidFill>
            <a:prstDash val="solid"/>
          </a:ln>
        </p:spPr>
        <p:txBody>
          <a:bodyPr/>
          <a:lstStyle/>
          <a:p>
            <a:endParaRPr lang="en-US"/>
          </a:p>
        </p:txBody>
      </p:sp>
      <p:sp>
        <p:nvSpPr>
          <p:cNvPr id="8" name="Text 5"/>
          <p:cNvSpPr/>
          <p:nvPr/>
        </p:nvSpPr>
        <p:spPr>
          <a:xfrm>
            <a:off x="5212080" y="4407408"/>
            <a:ext cx="3200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$8,441  Avg — Non-Smokers</a:t>
            </a:r>
            <a:endParaRPr lang="en-US" sz="1300" dirty="0"/>
          </a:p>
        </p:txBody>
      </p:sp>
      <p:sp>
        <p:nvSpPr>
          <p:cNvPr id="9" name="Shape 6"/>
          <p:cNvSpPr/>
          <p:nvPr/>
        </p:nvSpPr>
        <p:spPr>
          <a:xfrm>
            <a:off x="365760" y="4206240"/>
            <a:ext cx="8412480" cy="201168"/>
          </a:xfrm>
          <a:prstGeom prst="rect">
            <a:avLst/>
          </a:prstGeom>
          <a:solidFill>
            <a:srgbClr val="1A3C2B"/>
          </a:solidFill>
          <a:ln w="12700">
            <a:solidFill>
              <a:srgbClr val="1A3C2B"/>
            </a:solidFill>
            <a:prstDash val="solid"/>
          </a:ln>
        </p:spPr>
        <p:txBody>
          <a:bodyPr/>
          <a:lstStyle/>
          <a:p>
            <a:endParaRPr lang="en-US"/>
          </a:p>
        </p:txBody>
      </p:sp>
      <p:sp>
        <p:nvSpPr>
          <p:cNvPr id="10" name="Text 7"/>
          <p:cNvSpPr/>
          <p:nvPr/>
        </p:nvSpPr>
        <p:spPr>
          <a:xfrm>
            <a:off x="411480" y="4206240"/>
            <a:ext cx="8321040" cy="201168"/>
          </a:xfrm>
          <a:prstGeom prst="rect">
            <a:avLst/>
          </a:prstGeom>
          <a:noFill/>
          <a:ln/>
        </p:spPr>
        <p:txBody>
          <a:bodyPr wrap="square" lIns="0" tIns="0" rIns="0" bIns="0" rtlCol="0" anchor="ctr"/>
          <a:lstStyle/>
          <a:p>
            <a:pPr marL="0" indent="0" algn="ctr">
              <a:buNone/>
            </a:pPr>
            <a:r>
              <a:rPr lang="en-US" sz="1000" dirty="0">
                <a:solidFill>
                  <a:srgbClr val="A8C5B5"/>
                </a:solidFill>
                <a:latin typeface="Calibri" pitchFamily="34" charset="0"/>
                <a:ea typeface="Calibri" pitchFamily="34" charset="-122"/>
                <a:cs typeface="Calibri" pitchFamily="34" charset="-120"/>
              </a:rPr>
              <a:t>Smokers cost 3.8× more than non-smokers on average. Smoking status is the single strongest predictor in the dataset (correlation = 0.79 with expenses).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EDA 4 — Does BMI Affect Insurance Expenses?</a:t>
            </a:r>
            <a:endParaRPr lang="en-US" sz="2400" dirty="0"/>
          </a:p>
        </p:txBody>
      </p:sp>
      <p:pic>
        <p:nvPicPr>
          <p:cNvPr id="4" name="Image 0" descr="preencoded.png"/>
          <p:cNvPicPr>
            <a:picLocks noChangeAspect="1"/>
          </p:cNvPicPr>
          <p:nvPr/>
        </p:nvPicPr>
        <p:blipFill>
          <a:blip r:embed="rId3"/>
          <a:stretch>
            <a:fillRect/>
          </a:stretch>
        </p:blipFill>
        <p:spPr>
          <a:xfrm>
            <a:off x="1371600" y="1078992"/>
            <a:ext cx="6400800" cy="3794760"/>
          </a:xfrm>
          <a:prstGeom prst="rect">
            <a:avLst/>
          </a:prstGeom>
        </p:spPr>
      </p:pic>
      <p:sp>
        <p:nvSpPr>
          <p:cNvPr id="5" name="Shape 2"/>
          <p:cNvSpPr/>
          <p:nvPr/>
        </p:nvSpPr>
        <p:spPr>
          <a:xfrm>
            <a:off x="365760" y="4206240"/>
            <a:ext cx="8412480" cy="713232"/>
          </a:xfrm>
          <a:prstGeom prst="rect">
            <a:avLst/>
          </a:prstGeom>
          <a:solidFill>
            <a:srgbClr val="1A3C2B"/>
          </a:solidFill>
          <a:ln w="12700">
            <a:solidFill>
              <a:srgbClr val="1A3C2B"/>
            </a:solidFill>
            <a:prstDash val="solid"/>
          </a:ln>
        </p:spPr>
        <p:txBody>
          <a:bodyPr/>
          <a:lstStyle/>
          <a:p>
            <a:endParaRPr lang="en-US"/>
          </a:p>
        </p:txBody>
      </p:sp>
      <p:sp>
        <p:nvSpPr>
          <p:cNvPr id="6" name="Shape 3"/>
          <p:cNvSpPr/>
          <p:nvPr/>
        </p:nvSpPr>
        <p:spPr>
          <a:xfrm>
            <a:off x="411480" y="4279392"/>
            <a:ext cx="64008" cy="566928"/>
          </a:xfrm>
          <a:prstGeom prst="rect">
            <a:avLst/>
          </a:prstGeom>
          <a:solidFill>
            <a:srgbClr val="C8963E"/>
          </a:solidFill>
          <a:ln w="12700">
            <a:solidFill>
              <a:srgbClr val="C8963E"/>
            </a:solidFill>
            <a:prstDash val="solid"/>
          </a:ln>
        </p:spPr>
        <p:txBody>
          <a:bodyPr/>
          <a:lstStyle/>
          <a:p>
            <a:endParaRPr lang="en-US"/>
          </a:p>
        </p:txBody>
      </p:sp>
      <p:sp>
        <p:nvSpPr>
          <p:cNvPr id="7" name="Text 4"/>
          <p:cNvSpPr/>
          <p:nvPr/>
        </p:nvSpPr>
        <p:spPr>
          <a:xfrm>
            <a:off x="594360" y="4279392"/>
            <a:ext cx="8092440" cy="594360"/>
          </a:xfrm>
          <a:prstGeom prst="rect">
            <a:avLst/>
          </a:prstGeom>
          <a:noFill/>
          <a:ln/>
        </p:spPr>
        <p:txBody>
          <a:bodyPr wrap="square" lIns="0" tIns="0" rIns="0" bIns="0" rtlCol="0" anchor="ctr"/>
          <a:lstStyle/>
          <a:p>
            <a:pPr marL="0" indent="0">
              <a:buNone/>
            </a:pPr>
            <a:r>
              <a:rPr lang="en-US" sz="1100" dirty="0">
                <a:solidFill>
                  <a:srgbClr val="D0E8DC"/>
                </a:solidFill>
                <a:latin typeface="Calibri" pitchFamily="34" charset="0"/>
                <a:ea typeface="Calibri" pitchFamily="34" charset="-122"/>
                <a:cs typeface="Calibri" pitchFamily="34" charset="-120"/>
              </a:rPr>
              <a:t>Higher BMI is associated with increased expenses, but the relationship is not linear. The cloud of high-cost points above BMI=30 suggests an interaction with smoking — obese smokers represent the highest-cost group.</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EDA 5 &amp; 6 — Outliers &amp; Correlation Heatmap</a:t>
            </a:r>
            <a:endParaRPr lang="en-US" sz="2400" dirty="0"/>
          </a:p>
        </p:txBody>
      </p:sp>
      <p:pic>
        <p:nvPicPr>
          <p:cNvPr id="4" name="Image 0" descr="preencoded.png"/>
          <p:cNvPicPr>
            <a:picLocks noChangeAspect="1"/>
          </p:cNvPicPr>
          <p:nvPr/>
        </p:nvPicPr>
        <p:blipFill>
          <a:blip r:embed="rId3"/>
          <a:stretch>
            <a:fillRect/>
          </a:stretch>
        </p:blipFill>
        <p:spPr>
          <a:xfrm>
            <a:off x="365760" y="1078992"/>
            <a:ext cx="2286000" cy="3474720"/>
          </a:xfrm>
          <a:prstGeom prst="rect">
            <a:avLst/>
          </a:prstGeom>
        </p:spPr>
      </p:pic>
      <p:pic>
        <p:nvPicPr>
          <p:cNvPr id="5" name="Image 1" descr="preencoded.png"/>
          <p:cNvPicPr>
            <a:picLocks noChangeAspect="1"/>
          </p:cNvPicPr>
          <p:nvPr/>
        </p:nvPicPr>
        <p:blipFill>
          <a:blip r:embed="rId4"/>
          <a:stretch>
            <a:fillRect/>
          </a:stretch>
        </p:blipFill>
        <p:spPr>
          <a:xfrm>
            <a:off x="2834640" y="1078992"/>
            <a:ext cx="5943600" cy="3474720"/>
          </a:xfrm>
          <a:prstGeom prst="rect">
            <a:avLst/>
          </a:prstGeom>
        </p:spPr>
      </p:pic>
      <p:sp>
        <p:nvSpPr>
          <p:cNvPr id="6" name="Shape 2"/>
          <p:cNvSpPr/>
          <p:nvPr/>
        </p:nvSpPr>
        <p:spPr>
          <a:xfrm>
            <a:off x="365760" y="4663440"/>
            <a:ext cx="8412480" cy="274320"/>
          </a:xfrm>
          <a:prstGeom prst="rect">
            <a:avLst/>
          </a:prstGeom>
          <a:solidFill>
            <a:srgbClr val="ECEAE3"/>
          </a:solidFill>
          <a:ln w="12700">
            <a:solidFill>
              <a:srgbClr val="E0DDD4"/>
            </a:solidFill>
            <a:prstDash val="solid"/>
          </a:ln>
        </p:spPr>
        <p:txBody>
          <a:bodyPr/>
          <a:lstStyle/>
          <a:p>
            <a:endParaRPr lang="en-US"/>
          </a:p>
        </p:txBody>
      </p:sp>
      <p:sp>
        <p:nvSpPr>
          <p:cNvPr id="7" name="Text 3"/>
          <p:cNvSpPr/>
          <p:nvPr/>
        </p:nvSpPr>
        <p:spPr>
          <a:xfrm>
            <a:off x="411480" y="4663440"/>
            <a:ext cx="8321040" cy="274320"/>
          </a:xfrm>
          <a:prstGeom prst="rect">
            <a:avLst/>
          </a:prstGeom>
          <a:noFill/>
          <a:ln/>
        </p:spPr>
        <p:txBody>
          <a:bodyPr wrap="square" lIns="0" tIns="0" rIns="0" bIns="0" rtlCol="0" anchor="ctr"/>
          <a:lstStyle/>
          <a:p>
            <a:pPr marL="0" indent="0" algn="ctr">
              <a:buNone/>
            </a:pPr>
            <a:r>
              <a:rPr lang="en-US" sz="1000" dirty="0">
                <a:solidFill>
                  <a:srgbClr val="2D2D2D"/>
                </a:solidFill>
                <a:latin typeface="Calibri" pitchFamily="34" charset="0"/>
                <a:ea typeface="Calibri" pitchFamily="34" charset="-122"/>
                <a:cs typeface="Calibri" pitchFamily="34" charset="-120"/>
              </a:rPr>
              <a:t>139 outliers identified in expenses — all retained as they represent genuine high-cost patients.  |  Smoker (0.79) → Age (0.30) → BMI (0.20) are the top 3 correlated features with expenses.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Data Preprocessing Pipeline</a:t>
            </a:r>
            <a:endParaRPr lang="en-US" sz="2600" dirty="0"/>
          </a:p>
        </p:txBody>
      </p:sp>
      <p:sp>
        <p:nvSpPr>
          <p:cNvPr id="4" name="Shape 2"/>
          <p:cNvSpPr/>
          <p:nvPr/>
        </p:nvSpPr>
        <p:spPr>
          <a:xfrm>
            <a:off x="365760" y="1097280"/>
            <a:ext cx="4114800" cy="1188720"/>
          </a:xfrm>
          <a:prstGeom prst="rect">
            <a:avLst/>
          </a:prstGeom>
          <a:solidFill>
            <a:srgbClr val="FFFFFF"/>
          </a:solidFill>
          <a:ln w="12700">
            <a:solidFill>
              <a:srgbClr val="E0DDD4"/>
            </a:solidFill>
            <a:prstDash val="solid"/>
          </a:ln>
        </p:spPr>
        <p:txBody>
          <a:bodyPr/>
          <a:lstStyle/>
          <a:p>
            <a:endParaRPr lang="en-US"/>
          </a:p>
        </p:txBody>
      </p:sp>
      <p:sp>
        <p:nvSpPr>
          <p:cNvPr id="5" name="Shape 3"/>
          <p:cNvSpPr/>
          <p:nvPr/>
        </p:nvSpPr>
        <p:spPr>
          <a:xfrm>
            <a:off x="365760" y="1097280"/>
            <a:ext cx="64008" cy="1188720"/>
          </a:xfrm>
          <a:prstGeom prst="rect">
            <a:avLst/>
          </a:prstGeom>
          <a:solidFill>
            <a:srgbClr val="4A7C59"/>
          </a:solidFill>
          <a:ln w="12700">
            <a:solidFill>
              <a:srgbClr val="4A7C59"/>
            </a:solidFill>
            <a:prstDash val="solid"/>
          </a:ln>
        </p:spPr>
        <p:txBody>
          <a:bodyPr/>
          <a:lstStyle/>
          <a:p>
            <a:endParaRPr lang="en-US"/>
          </a:p>
        </p:txBody>
      </p:sp>
      <p:sp>
        <p:nvSpPr>
          <p:cNvPr id="6" name="Text 4"/>
          <p:cNvSpPr/>
          <p:nvPr/>
        </p:nvSpPr>
        <p:spPr>
          <a:xfrm>
            <a:off x="530352" y="1188720"/>
            <a:ext cx="3822192" cy="274320"/>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1 Duplicate Removal</a:t>
            </a:r>
            <a:endParaRPr lang="en-US" sz="1150" dirty="0"/>
          </a:p>
        </p:txBody>
      </p:sp>
      <p:sp>
        <p:nvSpPr>
          <p:cNvPr id="7" name="Text 5"/>
          <p:cNvSpPr/>
          <p:nvPr/>
        </p:nvSpPr>
        <p:spPr>
          <a:xfrm>
            <a:off x="530352" y="1527048"/>
            <a:ext cx="3822192" cy="6858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1 duplicate row was found and removed. Final dataset: 1,337 rows. All remaining rows are unique and valid records.</a:t>
            </a:r>
            <a:endParaRPr lang="en-US" sz="1100" dirty="0"/>
          </a:p>
        </p:txBody>
      </p:sp>
      <p:sp>
        <p:nvSpPr>
          <p:cNvPr id="8" name="Shape 6"/>
          <p:cNvSpPr/>
          <p:nvPr/>
        </p:nvSpPr>
        <p:spPr>
          <a:xfrm>
            <a:off x="4800600" y="1097280"/>
            <a:ext cx="4114800" cy="1188720"/>
          </a:xfrm>
          <a:prstGeom prst="rect">
            <a:avLst/>
          </a:prstGeom>
          <a:solidFill>
            <a:srgbClr val="ECEAE3"/>
          </a:solidFill>
          <a:ln w="12700">
            <a:solidFill>
              <a:srgbClr val="E0DDD4"/>
            </a:solidFill>
            <a:prstDash val="solid"/>
          </a:ln>
        </p:spPr>
        <p:txBody>
          <a:bodyPr/>
          <a:lstStyle/>
          <a:p>
            <a:endParaRPr lang="en-US"/>
          </a:p>
        </p:txBody>
      </p:sp>
      <p:sp>
        <p:nvSpPr>
          <p:cNvPr id="9" name="Shape 7"/>
          <p:cNvSpPr/>
          <p:nvPr/>
        </p:nvSpPr>
        <p:spPr>
          <a:xfrm>
            <a:off x="4800600" y="1097280"/>
            <a:ext cx="64008" cy="1188720"/>
          </a:xfrm>
          <a:prstGeom prst="rect">
            <a:avLst/>
          </a:prstGeom>
          <a:solidFill>
            <a:srgbClr val="4A7C59"/>
          </a:solidFill>
          <a:ln w="12700">
            <a:solidFill>
              <a:srgbClr val="4A7C59"/>
            </a:solidFill>
            <a:prstDash val="solid"/>
          </a:ln>
        </p:spPr>
        <p:txBody>
          <a:bodyPr/>
          <a:lstStyle/>
          <a:p>
            <a:endParaRPr lang="en-US"/>
          </a:p>
        </p:txBody>
      </p:sp>
      <p:sp>
        <p:nvSpPr>
          <p:cNvPr id="10" name="Text 8"/>
          <p:cNvSpPr/>
          <p:nvPr/>
        </p:nvSpPr>
        <p:spPr>
          <a:xfrm>
            <a:off x="4965192" y="1188720"/>
            <a:ext cx="3822192" cy="274320"/>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2 No Missing Values</a:t>
            </a:r>
            <a:endParaRPr lang="en-US" sz="1150" dirty="0"/>
          </a:p>
        </p:txBody>
      </p:sp>
      <p:sp>
        <p:nvSpPr>
          <p:cNvPr id="11" name="Text 9"/>
          <p:cNvSpPr/>
          <p:nvPr/>
        </p:nvSpPr>
        <p:spPr>
          <a:xfrm>
            <a:off x="4965192" y="1527048"/>
            <a:ext cx="3822192" cy="6858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Zero null values across all 7 columns. No imputation was required — the dataset was completely clean from the start.</a:t>
            </a:r>
            <a:endParaRPr lang="en-US" sz="1100" dirty="0"/>
          </a:p>
        </p:txBody>
      </p:sp>
      <p:sp>
        <p:nvSpPr>
          <p:cNvPr id="12" name="Shape 10"/>
          <p:cNvSpPr/>
          <p:nvPr/>
        </p:nvSpPr>
        <p:spPr>
          <a:xfrm>
            <a:off x="365760" y="2423160"/>
            <a:ext cx="4114800" cy="1188720"/>
          </a:xfrm>
          <a:prstGeom prst="rect">
            <a:avLst/>
          </a:prstGeom>
          <a:solidFill>
            <a:srgbClr val="FFFFFF"/>
          </a:solidFill>
          <a:ln w="12700">
            <a:solidFill>
              <a:srgbClr val="E0DDD4"/>
            </a:solidFill>
            <a:prstDash val="solid"/>
          </a:ln>
        </p:spPr>
        <p:txBody>
          <a:bodyPr/>
          <a:lstStyle/>
          <a:p>
            <a:endParaRPr lang="en-US"/>
          </a:p>
        </p:txBody>
      </p:sp>
      <p:sp>
        <p:nvSpPr>
          <p:cNvPr id="13" name="Shape 11"/>
          <p:cNvSpPr/>
          <p:nvPr/>
        </p:nvSpPr>
        <p:spPr>
          <a:xfrm>
            <a:off x="365760" y="2423160"/>
            <a:ext cx="64008" cy="1188720"/>
          </a:xfrm>
          <a:prstGeom prst="rect">
            <a:avLst/>
          </a:prstGeom>
          <a:solidFill>
            <a:srgbClr val="4A7C59"/>
          </a:solidFill>
          <a:ln w="12700">
            <a:solidFill>
              <a:srgbClr val="4A7C59"/>
            </a:solidFill>
            <a:prstDash val="solid"/>
          </a:ln>
        </p:spPr>
        <p:txBody>
          <a:bodyPr/>
          <a:lstStyle/>
          <a:p>
            <a:endParaRPr lang="en-US"/>
          </a:p>
        </p:txBody>
      </p:sp>
      <p:sp>
        <p:nvSpPr>
          <p:cNvPr id="14" name="Text 12"/>
          <p:cNvSpPr/>
          <p:nvPr/>
        </p:nvSpPr>
        <p:spPr>
          <a:xfrm>
            <a:off x="530352" y="2514600"/>
            <a:ext cx="3822192" cy="274320"/>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3 Label Encoding</a:t>
            </a:r>
            <a:endParaRPr lang="en-US" sz="1150" dirty="0"/>
          </a:p>
        </p:txBody>
      </p:sp>
      <p:sp>
        <p:nvSpPr>
          <p:cNvPr id="15" name="Text 13"/>
          <p:cNvSpPr/>
          <p:nvPr/>
        </p:nvSpPr>
        <p:spPr>
          <a:xfrm>
            <a:off x="530352" y="2852928"/>
            <a:ext cx="3822192" cy="6858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sex, smoker, and region were label-encoded using sklearn's LabelEncoder. The encoded df_encoded copy preserves the original for EDA.</a:t>
            </a:r>
            <a:endParaRPr lang="en-US" sz="1100" dirty="0"/>
          </a:p>
        </p:txBody>
      </p:sp>
      <p:sp>
        <p:nvSpPr>
          <p:cNvPr id="16" name="Shape 14"/>
          <p:cNvSpPr/>
          <p:nvPr/>
        </p:nvSpPr>
        <p:spPr>
          <a:xfrm>
            <a:off x="4800600" y="2423160"/>
            <a:ext cx="4114800" cy="1188720"/>
          </a:xfrm>
          <a:prstGeom prst="rect">
            <a:avLst/>
          </a:prstGeom>
          <a:solidFill>
            <a:srgbClr val="ECEAE3"/>
          </a:solidFill>
          <a:ln w="12700">
            <a:solidFill>
              <a:srgbClr val="E0DDD4"/>
            </a:solidFill>
            <a:prstDash val="solid"/>
          </a:ln>
        </p:spPr>
        <p:txBody>
          <a:bodyPr/>
          <a:lstStyle/>
          <a:p>
            <a:endParaRPr lang="en-US"/>
          </a:p>
        </p:txBody>
      </p:sp>
      <p:sp>
        <p:nvSpPr>
          <p:cNvPr id="17" name="Shape 15"/>
          <p:cNvSpPr/>
          <p:nvPr/>
        </p:nvSpPr>
        <p:spPr>
          <a:xfrm>
            <a:off x="4800600" y="2423160"/>
            <a:ext cx="64008" cy="1188720"/>
          </a:xfrm>
          <a:prstGeom prst="rect">
            <a:avLst/>
          </a:prstGeom>
          <a:solidFill>
            <a:srgbClr val="4A7C59"/>
          </a:solidFill>
          <a:ln w="12700">
            <a:solidFill>
              <a:srgbClr val="4A7C59"/>
            </a:solidFill>
            <a:prstDash val="solid"/>
          </a:ln>
        </p:spPr>
        <p:txBody>
          <a:bodyPr/>
          <a:lstStyle/>
          <a:p>
            <a:endParaRPr lang="en-US"/>
          </a:p>
        </p:txBody>
      </p:sp>
      <p:sp>
        <p:nvSpPr>
          <p:cNvPr id="18" name="Text 16"/>
          <p:cNvSpPr/>
          <p:nvPr/>
        </p:nvSpPr>
        <p:spPr>
          <a:xfrm>
            <a:off x="4965192" y="2514600"/>
            <a:ext cx="3822192" cy="274320"/>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4 No Feature Scaling</a:t>
            </a:r>
            <a:endParaRPr lang="en-US" sz="1150" dirty="0"/>
          </a:p>
        </p:txBody>
      </p:sp>
      <p:sp>
        <p:nvSpPr>
          <p:cNvPr id="19" name="Text 17"/>
          <p:cNvSpPr/>
          <p:nvPr/>
        </p:nvSpPr>
        <p:spPr>
          <a:xfrm>
            <a:off x="4965192" y="2852928"/>
            <a:ext cx="3822192" cy="6858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Random Forest is a tree-based, non-distance method. Feature scaling (standardisation / normalisation) is not required and was not applied.</a:t>
            </a:r>
            <a:endParaRPr lang="en-US" sz="1100" dirty="0"/>
          </a:p>
        </p:txBody>
      </p:sp>
      <p:sp>
        <p:nvSpPr>
          <p:cNvPr id="20" name="Shape 18"/>
          <p:cNvSpPr/>
          <p:nvPr/>
        </p:nvSpPr>
        <p:spPr>
          <a:xfrm>
            <a:off x="365760" y="3749040"/>
            <a:ext cx="4114800" cy="1188720"/>
          </a:xfrm>
          <a:prstGeom prst="rect">
            <a:avLst/>
          </a:prstGeom>
          <a:solidFill>
            <a:srgbClr val="FFFFFF"/>
          </a:solidFill>
          <a:ln w="12700">
            <a:solidFill>
              <a:srgbClr val="E0DDD4"/>
            </a:solidFill>
            <a:prstDash val="solid"/>
          </a:ln>
        </p:spPr>
        <p:txBody>
          <a:bodyPr/>
          <a:lstStyle/>
          <a:p>
            <a:endParaRPr lang="en-US"/>
          </a:p>
        </p:txBody>
      </p:sp>
      <p:sp>
        <p:nvSpPr>
          <p:cNvPr id="21" name="Shape 19"/>
          <p:cNvSpPr/>
          <p:nvPr/>
        </p:nvSpPr>
        <p:spPr>
          <a:xfrm>
            <a:off x="365760" y="3749040"/>
            <a:ext cx="64008" cy="1188720"/>
          </a:xfrm>
          <a:prstGeom prst="rect">
            <a:avLst/>
          </a:prstGeom>
          <a:solidFill>
            <a:srgbClr val="4A7C59"/>
          </a:solidFill>
          <a:ln w="12700">
            <a:solidFill>
              <a:srgbClr val="4A7C59"/>
            </a:solidFill>
            <a:prstDash val="solid"/>
          </a:ln>
        </p:spPr>
        <p:txBody>
          <a:bodyPr/>
          <a:lstStyle/>
          <a:p>
            <a:endParaRPr lang="en-US"/>
          </a:p>
        </p:txBody>
      </p:sp>
      <p:sp>
        <p:nvSpPr>
          <p:cNvPr id="22" name="Text 20"/>
          <p:cNvSpPr/>
          <p:nvPr/>
        </p:nvSpPr>
        <p:spPr>
          <a:xfrm>
            <a:off x="530352" y="3840480"/>
            <a:ext cx="3822192" cy="274320"/>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5 Train / Test Split</a:t>
            </a:r>
            <a:endParaRPr lang="en-US" sz="1150" dirty="0"/>
          </a:p>
        </p:txBody>
      </p:sp>
      <p:sp>
        <p:nvSpPr>
          <p:cNvPr id="23" name="Text 21"/>
          <p:cNvSpPr/>
          <p:nvPr/>
        </p:nvSpPr>
        <p:spPr>
          <a:xfrm>
            <a:off x="530352" y="4178808"/>
            <a:ext cx="3822192" cy="6858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80% training (1,069 rows) and 20% testing (268 rows). random_state=42 ensures the split is reproducible across all runs.</a:t>
            </a:r>
            <a:endParaRPr lang="en-US" sz="1100" dirty="0"/>
          </a:p>
        </p:txBody>
      </p:sp>
      <p:sp>
        <p:nvSpPr>
          <p:cNvPr id="24" name="Shape 22"/>
          <p:cNvSpPr/>
          <p:nvPr/>
        </p:nvSpPr>
        <p:spPr>
          <a:xfrm>
            <a:off x="4800600" y="3749040"/>
            <a:ext cx="4114800" cy="1188720"/>
          </a:xfrm>
          <a:prstGeom prst="rect">
            <a:avLst/>
          </a:prstGeom>
          <a:solidFill>
            <a:srgbClr val="ECEAE3"/>
          </a:solidFill>
          <a:ln w="12700">
            <a:solidFill>
              <a:srgbClr val="E0DDD4"/>
            </a:solidFill>
            <a:prstDash val="solid"/>
          </a:ln>
        </p:spPr>
        <p:txBody>
          <a:bodyPr/>
          <a:lstStyle/>
          <a:p>
            <a:endParaRPr lang="en-US"/>
          </a:p>
        </p:txBody>
      </p:sp>
      <p:sp>
        <p:nvSpPr>
          <p:cNvPr id="25" name="Shape 23"/>
          <p:cNvSpPr/>
          <p:nvPr/>
        </p:nvSpPr>
        <p:spPr>
          <a:xfrm>
            <a:off x="4800600" y="3749040"/>
            <a:ext cx="64008" cy="1188720"/>
          </a:xfrm>
          <a:prstGeom prst="rect">
            <a:avLst/>
          </a:prstGeom>
          <a:solidFill>
            <a:srgbClr val="4A7C59"/>
          </a:solidFill>
          <a:ln w="12700">
            <a:solidFill>
              <a:srgbClr val="4A7C59"/>
            </a:solidFill>
            <a:prstDash val="solid"/>
          </a:ln>
        </p:spPr>
        <p:txBody>
          <a:bodyPr/>
          <a:lstStyle/>
          <a:p>
            <a:endParaRPr lang="en-US"/>
          </a:p>
        </p:txBody>
      </p:sp>
      <p:sp>
        <p:nvSpPr>
          <p:cNvPr id="26" name="Text 24"/>
          <p:cNvSpPr/>
          <p:nvPr/>
        </p:nvSpPr>
        <p:spPr>
          <a:xfrm>
            <a:off x="4965192" y="3840480"/>
            <a:ext cx="3822192" cy="274320"/>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6 Model Configuration</a:t>
            </a:r>
            <a:endParaRPr lang="en-US" sz="1150" dirty="0"/>
          </a:p>
        </p:txBody>
      </p:sp>
      <p:sp>
        <p:nvSpPr>
          <p:cNvPr id="27" name="Text 25"/>
          <p:cNvSpPr/>
          <p:nvPr/>
        </p:nvSpPr>
        <p:spPr>
          <a:xfrm>
            <a:off x="4965192" y="4178808"/>
            <a:ext cx="3822192" cy="68580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RandomForestRegressor with n_estimators=200 and random_state=42. All other parameters use sklearn defaults (max_depth=None, max_features='sqrt').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3C2B"/>
        </a:solidFill>
        <a:effectLst/>
      </p:bgPr>
    </p:bg>
    <p:spTree>
      <p:nvGrpSpPr>
        <p:cNvPr id="1" name=""/>
        <p:cNvGrpSpPr/>
        <p:nvPr/>
      </p:nvGrpSpPr>
      <p:grpSpPr>
        <a:xfrm>
          <a:off x="0" y="0"/>
          <a:ext cx="0" cy="0"/>
          <a:chOff x="0" y="0"/>
          <a:chExt cx="0" cy="0"/>
        </a:xfrm>
      </p:grpSpPr>
      <p:sp>
        <p:nvSpPr>
          <p:cNvPr id="2" name="Text 0"/>
          <p:cNvSpPr/>
          <p:nvPr/>
        </p:nvSpPr>
        <p:spPr>
          <a:xfrm>
            <a:off x="5303520" y="-274320"/>
            <a:ext cx="4114800" cy="5669280"/>
          </a:xfrm>
          <a:prstGeom prst="rect">
            <a:avLst/>
          </a:prstGeom>
          <a:noFill/>
          <a:ln/>
        </p:spPr>
        <p:txBody>
          <a:bodyPr wrap="square" lIns="0" tIns="0" rIns="0" bIns="0" rtlCol="0" anchor="ctr"/>
          <a:lstStyle/>
          <a:p>
            <a:pPr marL="0" indent="0" algn="r">
              <a:buNone/>
            </a:pPr>
            <a:r>
              <a:rPr lang="en-US" sz="24000" b="1" dirty="0">
                <a:solidFill>
                  <a:srgbClr val="2C5F2D"/>
                </a:solidFill>
                <a:latin typeface="Georgia" pitchFamily="34" charset="0"/>
                <a:ea typeface="Georgia" pitchFamily="34" charset="-122"/>
                <a:cs typeface="Georgia" pitchFamily="34" charset="-120"/>
              </a:rPr>
              <a:t>03</a:t>
            </a:r>
            <a:endParaRPr lang="en-US" sz="24000" dirty="0"/>
          </a:p>
        </p:txBody>
      </p:sp>
      <p:sp>
        <p:nvSpPr>
          <p:cNvPr id="3" name="Shape 1"/>
          <p:cNvSpPr/>
          <p:nvPr/>
        </p:nvSpPr>
        <p:spPr>
          <a:xfrm>
            <a:off x="457200" y="1371600"/>
            <a:ext cx="73152" cy="2468880"/>
          </a:xfrm>
          <a:prstGeom prst="rect">
            <a:avLst/>
          </a:prstGeom>
          <a:solidFill>
            <a:srgbClr val="C8963E"/>
          </a:solidFill>
          <a:ln w="12700">
            <a:solidFill>
              <a:srgbClr val="C8963E"/>
            </a:solidFill>
            <a:prstDash val="solid"/>
          </a:ln>
        </p:spPr>
        <p:txBody>
          <a:bodyPr/>
          <a:lstStyle/>
          <a:p>
            <a:endParaRPr lang="en-US"/>
          </a:p>
        </p:txBody>
      </p:sp>
      <p:sp>
        <p:nvSpPr>
          <p:cNvPr id="4" name="Text 2"/>
          <p:cNvSpPr/>
          <p:nvPr/>
        </p:nvSpPr>
        <p:spPr>
          <a:xfrm>
            <a:off x="685800" y="1417320"/>
            <a:ext cx="5029200" cy="1920240"/>
          </a:xfrm>
          <a:prstGeom prst="rect">
            <a:avLst/>
          </a:prstGeom>
          <a:noFill/>
          <a:ln/>
        </p:spPr>
        <p:txBody>
          <a:bodyPr wrap="square" lIns="0" tIns="0" rIns="0" bIns="0" rtlCol="0" anchor="t"/>
          <a:lstStyle/>
          <a:p>
            <a:pPr marL="0" indent="0" algn="l">
              <a:buNone/>
            </a:pPr>
            <a:r>
              <a:rPr lang="en-US" sz="4200" b="1" dirty="0">
                <a:solidFill>
                  <a:srgbClr val="FFFFFF"/>
                </a:solidFill>
                <a:latin typeface="Georgia" pitchFamily="34" charset="0"/>
                <a:ea typeface="Georgia" pitchFamily="34" charset="-122"/>
                <a:cs typeface="Georgia" pitchFamily="34" charset="-120"/>
              </a:rPr>
              <a:t>Model</a:t>
            </a:r>
            <a:endParaRPr lang="en-US" sz="4200" dirty="0"/>
          </a:p>
          <a:p>
            <a:pPr marL="0" indent="0" algn="l">
              <a:buNone/>
            </a:pPr>
            <a:r>
              <a:rPr lang="en-US" sz="4200" b="1" dirty="0">
                <a:solidFill>
                  <a:srgbClr val="FFFFFF"/>
                </a:solidFill>
                <a:latin typeface="Georgia" pitchFamily="34" charset="0"/>
                <a:ea typeface="Georgia" pitchFamily="34" charset="-122"/>
                <a:cs typeface="Georgia" pitchFamily="34" charset="-120"/>
              </a:rPr>
              <a:t>Results</a:t>
            </a:r>
            <a:endParaRPr lang="en-US" sz="4200" dirty="0"/>
          </a:p>
        </p:txBody>
      </p:sp>
      <p:sp>
        <p:nvSpPr>
          <p:cNvPr id="5" name="Text 3"/>
          <p:cNvSpPr/>
          <p:nvPr/>
        </p:nvSpPr>
        <p:spPr>
          <a:xfrm>
            <a:off x="685800" y="3429000"/>
            <a:ext cx="5029200" cy="914400"/>
          </a:xfrm>
          <a:prstGeom prst="rect">
            <a:avLst/>
          </a:prstGeom>
          <a:noFill/>
          <a:ln/>
        </p:spPr>
        <p:txBody>
          <a:bodyPr wrap="square" lIns="0" tIns="0" rIns="0" bIns="0" rtlCol="0" anchor="t"/>
          <a:lstStyle/>
          <a:p>
            <a:pPr marL="0" indent="0" algn="l">
              <a:buNone/>
            </a:pPr>
            <a:r>
              <a:rPr lang="en-US" sz="1400" dirty="0">
                <a:solidFill>
                  <a:srgbClr val="A8C5B5"/>
                </a:solidFill>
                <a:latin typeface="Calibri" pitchFamily="34" charset="0"/>
                <a:ea typeface="Calibri" pitchFamily="34" charset="-122"/>
                <a:cs typeface="Calibri" pitchFamily="34" charset="-120"/>
              </a:rPr>
              <a:t>Training configuration, evaluation metrics, and feature importance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Model Training — Configuration &amp; Code</a:t>
            </a:r>
            <a:endParaRPr lang="en-US" sz="2400" dirty="0"/>
          </a:p>
        </p:txBody>
      </p:sp>
      <p:sp>
        <p:nvSpPr>
          <p:cNvPr id="4" name="Shape 2"/>
          <p:cNvSpPr/>
          <p:nvPr/>
        </p:nvSpPr>
        <p:spPr>
          <a:xfrm>
            <a:off x="365760" y="1097280"/>
            <a:ext cx="4023360" cy="3657600"/>
          </a:xfrm>
          <a:prstGeom prst="rect">
            <a:avLst/>
          </a:prstGeom>
          <a:solidFill>
            <a:srgbClr val="FFFFFF"/>
          </a:solidFill>
          <a:ln w="12700">
            <a:solidFill>
              <a:srgbClr val="E0DDD4"/>
            </a:solidFill>
            <a:prstDash val="solid"/>
          </a:ln>
        </p:spPr>
        <p:txBody>
          <a:bodyPr/>
          <a:lstStyle/>
          <a:p>
            <a:endParaRPr lang="en-US"/>
          </a:p>
        </p:txBody>
      </p:sp>
      <p:sp>
        <p:nvSpPr>
          <p:cNvPr id="5" name="Shape 3"/>
          <p:cNvSpPr/>
          <p:nvPr/>
        </p:nvSpPr>
        <p:spPr>
          <a:xfrm>
            <a:off x="411480" y="1188720"/>
            <a:ext cx="64008" cy="3474720"/>
          </a:xfrm>
          <a:prstGeom prst="rect">
            <a:avLst/>
          </a:prstGeom>
          <a:solidFill>
            <a:srgbClr val="4A7C59"/>
          </a:solidFill>
          <a:ln w="12700">
            <a:solidFill>
              <a:srgbClr val="4A7C59"/>
            </a:solidFill>
            <a:prstDash val="solid"/>
          </a:ln>
        </p:spPr>
        <p:txBody>
          <a:bodyPr/>
          <a:lstStyle/>
          <a:p>
            <a:endParaRPr lang="en-US"/>
          </a:p>
        </p:txBody>
      </p:sp>
      <p:sp>
        <p:nvSpPr>
          <p:cNvPr id="6" name="Text 4"/>
          <p:cNvSpPr/>
          <p:nvPr/>
        </p:nvSpPr>
        <p:spPr>
          <a:xfrm>
            <a:off x="594360" y="1207008"/>
            <a:ext cx="3657600" cy="320040"/>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Hyperparameter Configuration</a:t>
            </a:r>
            <a:endParaRPr lang="en-US" sz="1150" dirty="0"/>
          </a:p>
        </p:txBody>
      </p:sp>
      <p:sp>
        <p:nvSpPr>
          <p:cNvPr id="7" name="Shape 5"/>
          <p:cNvSpPr/>
          <p:nvPr/>
        </p:nvSpPr>
        <p:spPr>
          <a:xfrm>
            <a:off x="457200" y="1627632"/>
            <a:ext cx="3794760" cy="365760"/>
          </a:xfrm>
          <a:prstGeom prst="rect">
            <a:avLst/>
          </a:prstGeom>
          <a:solidFill>
            <a:srgbClr val="ECEAE3"/>
          </a:solidFill>
          <a:ln w="12700">
            <a:solidFill>
              <a:srgbClr val="E8E5DC"/>
            </a:solidFill>
            <a:prstDash val="solid"/>
          </a:ln>
        </p:spPr>
        <p:txBody>
          <a:bodyPr/>
          <a:lstStyle/>
          <a:p>
            <a:endParaRPr lang="en-US"/>
          </a:p>
        </p:txBody>
      </p:sp>
      <p:sp>
        <p:nvSpPr>
          <p:cNvPr id="8" name="Text 6"/>
          <p:cNvSpPr/>
          <p:nvPr/>
        </p:nvSpPr>
        <p:spPr>
          <a:xfrm>
            <a:off x="548640" y="1673352"/>
            <a:ext cx="1508760" cy="256032"/>
          </a:xfrm>
          <a:prstGeom prst="rect">
            <a:avLst/>
          </a:prstGeom>
          <a:noFill/>
          <a:ln/>
        </p:spPr>
        <p:txBody>
          <a:bodyPr wrap="square" lIns="0" tIns="0" rIns="0" bIns="0" rtlCol="0" anchor="ctr"/>
          <a:lstStyle/>
          <a:p>
            <a:pPr marL="0" indent="0">
              <a:buNone/>
            </a:pPr>
            <a:r>
              <a:rPr lang="en-US" sz="1000" b="1" dirty="0">
                <a:solidFill>
                  <a:srgbClr val="1A3C2B"/>
                </a:solidFill>
                <a:latin typeface="Consolas" pitchFamily="34" charset="0"/>
                <a:ea typeface="Consolas" pitchFamily="34" charset="-122"/>
                <a:cs typeface="Consolas" pitchFamily="34" charset="-120"/>
              </a:rPr>
              <a:t>n_estimators</a:t>
            </a:r>
            <a:endParaRPr lang="en-US" sz="1000" dirty="0"/>
          </a:p>
        </p:txBody>
      </p:sp>
      <p:sp>
        <p:nvSpPr>
          <p:cNvPr id="9" name="Text 7"/>
          <p:cNvSpPr/>
          <p:nvPr/>
        </p:nvSpPr>
        <p:spPr>
          <a:xfrm>
            <a:off x="2084832" y="1673352"/>
            <a:ext cx="822960" cy="256032"/>
          </a:xfrm>
          <a:prstGeom prst="rect">
            <a:avLst/>
          </a:prstGeom>
          <a:noFill/>
          <a:ln/>
        </p:spPr>
        <p:txBody>
          <a:bodyPr wrap="square" lIns="0" tIns="0" rIns="0" bIns="0" rtlCol="0" anchor="ctr"/>
          <a:lstStyle/>
          <a:p>
            <a:pPr marL="0" indent="0">
              <a:buNone/>
            </a:pPr>
            <a:r>
              <a:rPr lang="en-US" sz="1000" dirty="0">
                <a:solidFill>
                  <a:srgbClr val="C8963E"/>
                </a:solidFill>
                <a:latin typeface="Consolas" pitchFamily="34" charset="0"/>
                <a:ea typeface="Consolas" pitchFamily="34" charset="-122"/>
                <a:cs typeface="Consolas" pitchFamily="34" charset="-120"/>
              </a:rPr>
              <a:t>200</a:t>
            </a:r>
            <a:endParaRPr lang="en-US" sz="1000" dirty="0"/>
          </a:p>
        </p:txBody>
      </p:sp>
      <p:sp>
        <p:nvSpPr>
          <p:cNvPr id="10" name="Text 8"/>
          <p:cNvSpPr/>
          <p:nvPr/>
        </p:nvSpPr>
        <p:spPr>
          <a:xfrm>
            <a:off x="2926080" y="1673352"/>
            <a:ext cx="109728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Trees in the forest</a:t>
            </a:r>
            <a:endParaRPr lang="en-US" sz="900" dirty="0"/>
          </a:p>
        </p:txBody>
      </p:sp>
      <p:sp>
        <p:nvSpPr>
          <p:cNvPr id="11" name="Shape 9"/>
          <p:cNvSpPr/>
          <p:nvPr/>
        </p:nvSpPr>
        <p:spPr>
          <a:xfrm>
            <a:off x="457200" y="2048256"/>
            <a:ext cx="3794760" cy="365760"/>
          </a:xfrm>
          <a:prstGeom prst="rect">
            <a:avLst/>
          </a:prstGeom>
          <a:solidFill>
            <a:srgbClr val="FFFFFF"/>
          </a:solidFill>
          <a:ln w="12700">
            <a:solidFill>
              <a:srgbClr val="E8E5DC"/>
            </a:solidFill>
            <a:prstDash val="solid"/>
          </a:ln>
        </p:spPr>
        <p:txBody>
          <a:bodyPr/>
          <a:lstStyle/>
          <a:p>
            <a:endParaRPr lang="en-US"/>
          </a:p>
        </p:txBody>
      </p:sp>
      <p:sp>
        <p:nvSpPr>
          <p:cNvPr id="12" name="Text 10"/>
          <p:cNvSpPr/>
          <p:nvPr/>
        </p:nvSpPr>
        <p:spPr>
          <a:xfrm>
            <a:off x="548640" y="2093976"/>
            <a:ext cx="1508760" cy="256032"/>
          </a:xfrm>
          <a:prstGeom prst="rect">
            <a:avLst/>
          </a:prstGeom>
          <a:noFill/>
          <a:ln/>
        </p:spPr>
        <p:txBody>
          <a:bodyPr wrap="square" lIns="0" tIns="0" rIns="0" bIns="0" rtlCol="0" anchor="ctr"/>
          <a:lstStyle/>
          <a:p>
            <a:pPr marL="0" indent="0">
              <a:buNone/>
            </a:pPr>
            <a:r>
              <a:rPr lang="en-US" sz="1000" b="1" dirty="0">
                <a:solidFill>
                  <a:srgbClr val="1A3C2B"/>
                </a:solidFill>
                <a:latin typeface="Consolas" pitchFamily="34" charset="0"/>
                <a:ea typeface="Consolas" pitchFamily="34" charset="-122"/>
                <a:cs typeface="Consolas" pitchFamily="34" charset="-120"/>
              </a:rPr>
              <a:t>max_depth</a:t>
            </a:r>
            <a:endParaRPr lang="en-US" sz="1000" dirty="0"/>
          </a:p>
        </p:txBody>
      </p:sp>
      <p:sp>
        <p:nvSpPr>
          <p:cNvPr id="13" name="Text 11"/>
          <p:cNvSpPr/>
          <p:nvPr/>
        </p:nvSpPr>
        <p:spPr>
          <a:xfrm>
            <a:off x="2084832" y="2093976"/>
            <a:ext cx="822960" cy="256032"/>
          </a:xfrm>
          <a:prstGeom prst="rect">
            <a:avLst/>
          </a:prstGeom>
          <a:noFill/>
          <a:ln/>
        </p:spPr>
        <p:txBody>
          <a:bodyPr wrap="square" lIns="0" tIns="0" rIns="0" bIns="0" rtlCol="0" anchor="ctr"/>
          <a:lstStyle/>
          <a:p>
            <a:pPr marL="0" indent="0">
              <a:buNone/>
            </a:pPr>
            <a:r>
              <a:rPr lang="en-US" sz="1000" dirty="0">
                <a:solidFill>
                  <a:srgbClr val="C8963E"/>
                </a:solidFill>
                <a:latin typeface="Consolas" pitchFamily="34" charset="0"/>
                <a:ea typeface="Consolas" pitchFamily="34" charset="-122"/>
                <a:cs typeface="Consolas" pitchFamily="34" charset="-120"/>
              </a:rPr>
              <a:t>None</a:t>
            </a:r>
            <a:endParaRPr lang="en-US" sz="1000" dirty="0"/>
          </a:p>
        </p:txBody>
      </p:sp>
      <p:sp>
        <p:nvSpPr>
          <p:cNvPr id="14" name="Text 12"/>
          <p:cNvSpPr/>
          <p:nvPr/>
        </p:nvSpPr>
        <p:spPr>
          <a:xfrm>
            <a:off x="2926080" y="2093976"/>
            <a:ext cx="109728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Fully grown — no pruning</a:t>
            </a:r>
            <a:endParaRPr lang="en-US" sz="900" dirty="0"/>
          </a:p>
        </p:txBody>
      </p:sp>
      <p:sp>
        <p:nvSpPr>
          <p:cNvPr id="15" name="Shape 13"/>
          <p:cNvSpPr/>
          <p:nvPr/>
        </p:nvSpPr>
        <p:spPr>
          <a:xfrm>
            <a:off x="457200" y="2468880"/>
            <a:ext cx="3794760" cy="365760"/>
          </a:xfrm>
          <a:prstGeom prst="rect">
            <a:avLst/>
          </a:prstGeom>
          <a:solidFill>
            <a:srgbClr val="ECEAE3"/>
          </a:solidFill>
          <a:ln w="12700">
            <a:solidFill>
              <a:srgbClr val="E8E5DC"/>
            </a:solidFill>
            <a:prstDash val="solid"/>
          </a:ln>
        </p:spPr>
        <p:txBody>
          <a:bodyPr/>
          <a:lstStyle/>
          <a:p>
            <a:endParaRPr lang="en-US"/>
          </a:p>
        </p:txBody>
      </p:sp>
      <p:sp>
        <p:nvSpPr>
          <p:cNvPr id="16" name="Text 14"/>
          <p:cNvSpPr/>
          <p:nvPr/>
        </p:nvSpPr>
        <p:spPr>
          <a:xfrm>
            <a:off x="548640" y="2514600"/>
            <a:ext cx="1508760" cy="256032"/>
          </a:xfrm>
          <a:prstGeom prst="rect">
            <a:avLst/>
          </a:prstGeom>
          <a:noFill/>
          <a:ln/>
        </p:spPr>
        <p:txBody>
          <a:bodyPr wrap="square" lIns="0" tIns="0" rIns="0" bIns="0" rtlCol="0" anchor="ctr"/>
          <a:lstStyle/>
          <a:p>
            <a:pPr marL="0" indent="0">
              <a:buNone/>
            </a:pPr>
            <a:r>
              <a:rPr lang="en-US" sz="1000" b="1" dirty="0">
                <a:solidFill>
                  <a:srgbClr val="1A3C2B"/>
                </a:solidFill>
                <a:latin typeface="Consolas" pitchFamily="34" charset="0"/>
                <a:ea typeface="Consolas" pitchFamily="34" charset="-122"/>
                <a:cs typeface="Consolas" pitchFamily="34" charset="-120"/>
              </a:rPr>
              <a:t>max_features</a:t>
            </a:r>
            <a:endParaRPr lang="en-US" sz="1000" dirty="0"/>
          </a:p>
        </p:txBody>
      </p:sp>
      <p:sp>
        <p:nvSpPr>
          <p:cNvPr id="17" name="Text 15"/>
          <p:cNvSpPr/>
          <p:nvPr/>
        </p:nvSpPr>
        <p:spPr>
          <a:xfrm>
            <a:off x="2084832" y="2514600"/>
            <a:ext cx="822960" cy="256032"/>
          </a:xfrm>
          <a:prstGeom prst="rect">
            <a:avLst/>
          </a:prstGeom>
          <a:noFill/>
          <a:ln/>
        </p:spPr>
        <p:txBody>
          <a:bodyPr wrap="square" lIns="0" tIns="0" rIns="0" bIns="0" rtlCol="0" anchor="ctr"/>
          <a:lstStyle/>
          <a:p>
            <a:pPr marL="0" indent="0">
              <a:buNone/>
            </a:pPr>
            <a:r>
              <a:rPr lang="en-US" sz="1000" dirty="0">
                <a:solidFill>
                  <a:srgbClr val="C8963E"/>
                </a:solidFill>
                <a:latin typeface="Consolas" pitchFamily="34" charset="0"/>
                <a:ea typeface="Consolas" pitchFamily="34" charset="-122"/>
                <a:cs typeface="Consolas" pitchFamily="34" charset="-120"/>
              </a:rPr>
              <a:t>'sqrt'</a:t>
            </a:r>
            <a:endParaRPr lang="en-US" sz="1000" dirty="0"/>
          </a:p>
        </p:txBody>
      </p:sp>
      <p:sp>
        <p:nvSpPr>
          <p:cNvPr id="18" name="Text 16"/>
          <p:cNvSpPr/>
          <p:nvPr/>
        </p:nvSpPr>
        <p:spPr>
          <a:xfrm>
            <a:off x="2926080" y="2514600"/>
            <a:ext cx="109728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Features per split</a:t>
            </a:r>
            <a:endParaRPr lang="en-US" sz="900" dirty="0"/>
          </a:p>
        </p:txBody>
      </p:sp>
      <p:sp>
        <p:nvSpPr>
          <p:cNvPr id="19" name="Shape 17"/>
          <p:cNvSpPr/>
          <p:nvPr/>
        </p:nvSpPr>
        <p:spPr>
          <a:xfrm>
            <a:off x="457200" y="2889504"/>
            <a:ext cx="3794760" cy="365760"/>
          </a:xfrm>
          <a:prstGeom prst="rect">
            <a:avLst/>
          </a:prstGeom>
          <a:solidFill>
            <a:srgbClr val="FFFFFF"/>
          </a:solidFill>
          <a:ln w="12700">
            <a:solidFill>
              <a:srgbClr val="E8E5DC"/>
            </a:solidFill>
            <a:prstDash val="solid"/>
          </a:ln>
        </p:spPr>
        <p:txBody>
          <a:bodyPr/>
          <a:lstStyle/>
          <a:p>
            <a:endParaRPr lang="en-US"/>
          </a:p>
        </p:txBody>
      </p:sp>
      <p:sp>
        <p:nvSpPr>
          <p:cNvPr id="20" name="Text 18"/>
          <p:cNvSpPr/>
          <p:nvPr/>
        </p:nvSpPr>
        <p:spPr>
          <a:xfrm>
            <a:off x="548640" y="2935224"/>
            <a:ext cx="1508760" cy="256032"/>
          </a:xfrm>
          <a:prstGeom prst="rect">
            <a:avLst/>
          </a:prstGeom>
          <a:noFill/>
          <a:ln/>
        </p:spPr>
        <p:txBody>
          <a:bodyPr wrap="square" lIns="0" tIns="0" rIns="0" bIns="0" rtlCol="0" anchor="ctr"/>
          <a:lstStyle/>
          <a:p>
            <a:pPr marL="0" indent="0">
              <a:buNone/>
            </a:pPr>
            <a:r>
              <a:rPr lang="en-US" sz="1000" b="1" dirty="0">
                <a:solidFill>
                  <a:srgbClr val="1A3C2B"/>
                </a:solidFill>
                <a:latin typeface="Consolas" pitchFamily="34" charset="0"/>
                <a:ea typeface="Consolas" pitchFamily="34" charset="-122"/>
                <a:cs typeface="Consolas" pitchFamily="34" charset="-120"/>
              </a:rPr>
              <a:t>random_state</a:t>
            </a:r>
            <a:endParaRPr lang="en-US" sz="1000" dirty="0"/>
          </a:p>
        </p:txBody>
      </p:sp>
      <p:sp>
        <p:nvSpPr>
          <p:cNvPr id="21" name="Text 19"/>
          <p:cNvSpPr/>
          <p:nvPr/>
        </p:nvSpPr>
        <p:spPr>
          <a:xfrm>
            <a:off x="2084832" y="2935224"/>
            <a:ext cx="822960" cy="256032"/>
          </a:xfrm>
          <a:prstGeom prst="rect">
            <a:avLst/>
          </a:prstGeom>
          <a:noFill/>
          <a:ln/>
        </p:spPr>
        <p:txBody>
          <a:bodyPr wrap="square" lIns="0" tIns="0" rIns="0" bIns="0" rtlCol="0" anchor="ctr"/>
          <a:lstStyle/>
          <a:p>
            <a:pPr marL="0" indent="0">
              <a:buNone/>
            </a:pPr>
            <a:r>
              <a:rPr lang="en-US" sz="1000" dirty="0">
                <a:solidFill>
                  <a:srgbClr val="C8963E"/>
                </a:solidFill>
                <a:latin typeface="Consolas" pitchFamily="34" charset="0"/>
                <a:ea typeface="Consolas" pitchFamily="34" charset="-122"/>
                <a:cs typeface="Consolas" pitchFamily="34" charset="-120"/>
              </a:rPr>
              <a:t>42</a:t>
            </a:r>
            <a:endParaRPr lang="en-US" sz="1000" dirty="0"/>
          </a:p>
        </p:txBody>
      </p:sp>
      <p:sp>
        <p:nvSpPr>
          <p:cNvPr id="22" name="Text 20"/>
          <p:cNvSpPr/>
          <p:nvPr/>
        </p:nvSpPr>
        <p:spPr>
          <a:xfrm>
            <a:off x="2926080" y="2935224"/>
            <a:ext cx="109728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Reproducibility seed</a:t>
            </a:r>
            <a:endParaRPr lang="en-US" sz="900" dirty="0"/>
          </a:p>
        </p:txBody>
      </p:sp>
      <p:sp>
        <p:nvSpPr>
          <p:cNvPr id="23" name="Shape 21"/>
          <p:cNvSpPr/>
          <p:nvPr/>
        </p:nvSpPr>
        <p:spPr>
          <a:xfrm>
            <a:off x="457200" y="3310128"/>
            <a:ext cx="3794760" cy="365760"/>
          </a:xfrm>
          <a:prstGeom prst="rect">
            <a:avLst/>
          </a:prstGeom>
          <a:solidFill>
            <a:srgbClr val="ECEAE3"/>
          </a:solidFill>
          <a:ln w="12700">
            <a:solidFill>
              <a:srgbClr val="E8E5DC"/>
            </a:solidFill>
            <a:prstDash val="solid"/>
          </a:ln>
        </p:spPr>
        <p:txBody>
          <a:bodyPr/>
          <a:lstStyle/>
          <a:p>
            <a:endParaRPr lang="en-US"/>
          </a:p>
        </p:txBody>
      </p:sp>
      <p:sp>
        <p:nvSpPr>
          <p:cNvPr id="24" name="Text 22"/>
          <p:cNvSpPr/>
          <p:nvPr/>
        </p:nvSpPr>
        <p:spPr>
          <a:xfrm>
            <a:off x="548640" y="3355848"/>
            <a:ext cx="1508760" cy="256032"/>
          </a:xfrm>
          <a:prstGeom prst="rect">
            <a:avLst/>
          </a:prstGeom>
          <a:noFill/>
          <a:ln/>
        </p:spPr>
        <p:txBody>
          <a:bodyPr wrap="square" lIns="0" tIns="0" rIns="0" bIns="0" rtlCol="0" anchor="ctr"/>
          <a:lstStyle/>
          <a:p>
            <a:pPr marL="0" indent="0">
              <a:buNone/>
            </a:pPr>
            <a:r>
              <a:rPr lang="en-US" sz="1000" b="1" dirty="0">
                <a:solidFill>
                  <a:srgbClr val="1A3C2B"/>
                </a:solidFill>
                <a:latin typeface="Consolas" pitchFamily="34" charset="0"/>
                <a:ea typeface="Consolas" pitchFamily="34" charset="-122"/>
                <a:cs typeface="Consolas" pitchFamily="34" charset="-120"/>
              </a:rPr>
              <a:t>n_jobs</a:t>
            </a:r>
            <a:endParaRPr lang="en-US" sz="1000" dirty="0"/>
          </a:p>
        </p:txBody>
      </p:sp>
      <p:sp>
        <p:nvSpPr>
          <p:cNvPr id="25" name="Text 23"/>
          <p:cNvSpPr/>
          <p:nvPr/>
        </p:nvSpPr>
        <p:spPr>
          <a:xfrm>
            <a:off x="2084832" y="3355848"/>
            <a:ext cx="822960" cy="256032"/>
          </a:xfrm>
          <a:prstGeom prst="rect">
            <a:avLst/>
          </a:prstGeom>
          <a:noFill/>
          <a:ln/>
        </p:spPr>
        <p:txBody>
          <a:bodyPr wrap="square" lIns="0" tIns="0" rIns="0" bIns="0" rtlCol="0" anchor="ctr"/>
          <a:lstStyle/>
          <a:p>
            <a:pPr marL="0" indent="0">
              <a:buNone/>
            </a:pPr>
            <a:r>
              <a:rPr lang="en-US" sz="1000" dirty="0">
                <a:solidFill>
                  <a:srgbClr val="C8963E"/>
                </a:solidFill>
                <a:latin typeface="Consolas" pitchFamily="34" charset="0"/>
                <a:ea typeface="Consolas" pitchFamily="34" charset="-122"/>
                <a:cs typeface="Consolas" pitchFamily="34" charset="-120"/>
              </a:rPr>
              <a:t>default</a:t>
            </a:r>
            <a:endParaRPr lang="en-US" sz="1000" dirty="0"/>
          </a:p>
        </p:txBody>
      </p:sp>
      <p:sp>
        <p:nvSpPr>
          <p:cNvPr id="26" name="Text 24"/>
          <p:cNvSpPr/>
          <p:nvPr/>
        </p:nvSpPr>
        <p:spPr>
          <a:xfrm>
            <a:off x="2926080" y="3355848"/>
            <a:ext cx="109728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Single core (default)</a:t>
            </a:r>
            <a:endParaRPr lang="en-US" sz="900" dirty="0"/>
          </a:p>
        </p:txBody>
      </p:sp>
      <p:sp>
        <p:nvSpPr>
          <p:cNvPr id="27" name="Shape 25"/>
          <p:cNvSpPr/>
          <p:nvPr/>
        </p:nvSpPr>
        <p:spPr>
          <a:xfrm>
            <a:off x="457200" y="3730752"/>
            <a:ext cx="3794760" cy="365760"/>
          </a:xfrm>
          <a:prstGeom prst="rect">
            <a:avLst/>
          </a:prstGeom>
          <a:solidFill>
            <a:srgbClr val="FFFFFF"/>
          </a:solidFill>
          <a:ln w="12700">
            <a:solidFill>
              <a:srgbClr val="E8E5DC"/>
            </a:solidFill>
            <a:prstDash val="solid"/>
          </a:ln>
        </p:spPr>
        <p:txBody>
          <a:bodyPr/>
          <a:lstStyle/>
          <a:p>
            <a:endParaRPr lang="en-US"/>
          </a:p>
        </p:txBody>
      </p:sp>
      <p:sp>
        <p:nvSpPr>
          <p:cNvPr id="28" name="Text 26"/>
          <p:cNvSpPr/>
          <p:nvPr/>
        </p:nvSpPr>
        <p:spPr>
          <a:xfrm>
            <a:off x="548640" y="3776472"/>
            <a:ext cx="1508760" cy="256032"/>
          </a:xfrm>
          <a:prstGeom prst="rect">
            <a:avLst/>
          </a:prstGeom>
          <a:noFill/>
          <a:ln/>
        </p:spPr>
        <p:txBody>
          <a:bodyPr wrap="square" lIns="0" tIns="0" rIns="0" bIns="0" rtlCol="0" anchor="ctr"/>
          <a:lstStyle/>
          <a:p>
            <a:pPr marL="0" indent="0">
              <a:buNone/>
            </a:pPr>
            <a:r>
              <a:rPr lang="en-US" sz="1000" b="1" dirty="0">
                <a:solidFill>
                  <a:srgbClr val="1A3C2B"/>
                </a:solidFill>
                <a:latin typeface="Consolas" pitchFamily="34" charset="0"/>
                <a:ea typeface="Consolas" pitchFamily="34" charset="-122"/>
                <a:cs typeface="Consolas" pitchFamily="34" charset="-120"/>
              </a:rPr>
              <a:t>test_size</a:t>
            </a:r>
            <a:endParaRPr lang="en-US" sz="1000" dirty="0"/>
          </a:p>
        </p:txBody>
      </p:sp>
      <p:sp>
        <p:nvSpPr>
          <p:cNvPr id="29" name="Text 27"/>
          <p:cNvSpPr/>
          <p:nvPr/>
        </p:nvSpPr>
        <p:spPr>
          <a:xfrm>
            <a:off x="2084832" y="3776472"/>
            <a:ext cx="822960" cy="256032"/>
          </a:xfrm>
          <a:prstGeom prst="rect">
            <a:avLst/>
          </a:prstGeom>
          <a:noFill/>
          <a:ln/>
        </p:spPr>
        <p:txBody>
          <a:bodyPr wrap="square" lIns="0" tIns="0" rIns="0" bIns="0" rtlCol="0" anchor="ctr"/>
          <a:lstStyle/>
          <a:p>
            <a:pPr marL="0" indent="0">
              <a:buNone/>
            </a:pPr>
            <a:r>
              <a:rPr lang="en-US" sz="1000" dirty="0">
                <a:solidFill>
                  <a:srgbClr val="C8963E"/>
                </a:solidFill>
                <a:latin typeface="Consolas" pitchFamily="34" charset="0"/>
                <a:ea typeface="Consolas" pitchFamily="34" charset="-122"/>
                <a:cs typeface="Consolas" pitchFamily="34" charset="-120"/>
              </a:rPr>
              <a:t>0.20</a:t>
            </a:r>
            <a:endParaRPr lang="en-US" sz="1000" dirty="0"/>
          </a:p>
        </p:txBody>
      </p:sp>
      <p:sp>
        <p:nvSpPr>
          <p:cNvPr id="30" name="Text 28"/>
          <p:cNvSpPr/>
          <p:nvPr/>
        </p:nvSpPr>
        <p:spPr>
          <a:xfrm>
            <a:off x="2926080" y="3776472"/>
            <a:ext cx="109728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20% held-out test set</a:t>
            </a:r>
            <a:endParaRPr lang="en-US" sz="900" dirty="0"/>
          </a:p>
        </p:txBody>
      </p:sp>
      <p:sp>
        <p:nvSpPr>
          <p:cNvPr id="31" name="Shape 29"/>
          <p:cNvSpPr/>
          <p:nvPr/>
        </p:nvSpPr>
        <p:spPr>
          <a:xfrm>
            <a:off x="457200" y="4151376"/>
            <a:ext cx="3794760" cy="365760"/>
          </a:xfrm>
          <a:prstGeom prst="rect">
            <a:avLst/>
          </a:prstGeom>
          <a:solidFill>
            <a:srgbClr val="ECEAE3"/>
          </a:solidFill>
          <a:ln w="12700">
            <a:solidFill>
              <a:srgbClr val="E8E5DC"/>
            </a:solidFill>
            <a:prstDash val="solid"/>
          </a:ln>
        </p:spPr>
        <p:txBody>
          <a:bodyPr/>
          <a:lstStyle/>
          <a:p>
            <a:endParaRPr lang="en-US"/>
          </a:p>
        </p:txBody>
      </p:sp>
      <p:sp>
        <p:nvSpPr>
          <p:cNvPr id="32" name="Text 30"/>
          <p:cNvSpPr/>
          <p:nvPr/>
        </p:nvSpPr>
        <p:spPr>
          <a:xfrm>
            <a:off x="548640" y="4197096"/>
            <a:ext cx="1508760" cy="256032"/>
          </a:xfrm>
          <a:prstGeom prst="rect">
            <a:avLst/>
          </a:prstGeom>
          <a:noFill/>
          <a:ln/>
        </p:spPr>
        <p:txBody>
          <a:bodyPr wrap="square" lIns="0" tIns="0" rIns="0" bIns="0" rtlCol="0" anchor="ctr"/>
          <a:lstStyle/>
          <a:p>
            <a:pPr marL="0" indent="0">
              <a:buNone/>
            </a:pPr>
            <a:r>
              <a:rPr lang="en-US" sz="1000" b="1" dirty="0">
                <a:solidFill>
                  <a:srgbClr val="1A3C2B"/>
                </a:solidFill>
                <a:latin typeface="Consolas" pitchFamily="34" charset="0"/>
                <a:ea typeface="Consolas" pitchFamily="34" charset="-122"/>
                <a:cs typeface="Consolas" pitchFamily="34" charset="-120"/>
              </a:rPr>
              <a:t>random_state</a:t>
            </a:r>
            <a:endParaRPr lang="en-US" sz="1000" dirty="0"/>
          </a:p>
        </p:txBody>
      </p:sp>
      <p:sp>
        <p:nvSpPr>
          <p:cNvPr id="33" name="Text 31"/>
          <p:cNvSpPr/>
          <p:nvPr/>
        </p:nvSpPr>
        <p:spPr>
          <a:xfrm>
            <a:off x="2084832" y="4197096"/>
            <a:ext cx="822960" cy="256032"/>
          </a:xfrm>
          <a:prstGeom prst="rect">
            <a:avLst/>
          </a:prstGeom>
          <a:noFill/>
          <a:ln/>
        </p:spPr>
        <p:txBody>
          <a:bodyPr wrap="square" lIns="0" tIns="0" rIns="0" bIns="0" rtlCol="0" anchor="ctr"/>
          <a:lstStyle/>
          <a:p>
            <a:pPr marL="0" indent="0">
              <a:buNone/>
            </a:pPr>
            <a:r>
              <a:rPr lang="en-US" sz="1000" dirty="0">
                <a:solidFill>
                  <a:srgbClr val="C8963E"/>
                </a:solidFill>
                <a:latin typeface="Consolas" pitchFamily="34" charset="0"/>
                <a:ea typeface="Consolas" pitchFamily="34" charset="-122"/>
                <a:cs typeface="Consolas" pitchFamily="34" charset="-120"/>
              </a:rPr>
              <a:t>42</a:t>
            </a:r>
            <a:endParaRPr lang="en-US" sz="1000" dirty="0"/>
          </a:p>
        </p:txBody>
      </p:sp>
      <p:sp>
        <p:nvSpPr>
          <p:cNvPr id="34" name="Text 32"/>
          <p:cNvSpPr/>
          <p:nvPr/>
        </p:nvSpPr>
        <p:spPr>
          <a:xfrm>
            <a:off x="2926080" y="4197096"/>
            <a:ext cx="109728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Split seed</a:t>
            </a:r>
            <a:endParaRPr lang="en-US" sz="900" dirty="0"/>
          </a:p>
        </p:txBody>
      </p:sp>
      <p:sp>
        <p:nvSpPr>
          <p:cNvPr id="35" name="Shape 33"/>
          <p:cNvSpPr/>
          <p:nvPr/>
        </p:nvSpPr>
        <p:spPr>
          <a:xfrm>
            <a:off x="4572000" y="1097280"/>
            <a:ext cx="4206240" cy="3657600"/>
          </a:xfrm>
          <a:prstGeom prst="rect">
            <a:avLst/>
          </a:prstGeom>
          <a:solidFill>
            <a:srgbClr val="1E2832"/>
          </a:solidFill>
          <a:ln w="12700">
            <a:solidFill>
              <a:srgbClr val="1E2832"/>
            </a:solidFill>
            <a:prstDash val="solid"/>
          </a:ln>
        </p:spPr>
        <p:txBody>
          <a:bodyPr/>
          <a:lstStyle/>
          <a:p>
            <a:endParaRPr lang="en-US"/>
          </a:p>
        </p:txBody>
      </p:sp>
      <p:sp>
        <p:nvSpPr>
          <p:cNvPr id="36" name="Text 34"/>
          <p:cNvSpPr/>
          <p:nvPr/>
        </p:nvSpPr>
        <p:spPr>
          <a:xfrm>
            <a:off x="4663440" y="1161288"/>
            <a:ext cx="3931920" cy="301752"/>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Python Implementation</a:t>
            </a:r>
            <a:endParaRPr lang="en-US" sz="1050" dirty="0"/>
          </a:p>
        </p:txBody>
      </p:sp>
      <p:sp>
        <p:nvSpPr>
          <p:cNvPr id="37" name="Text 35"/>
          <p:cNvSpPr/>
          <p:nvPr/>
        </p:nvSpPr>
        <p:spPr>
          <a:xfrm>
            <a:off x="4663440" y="1527048"/>
            <a:ext cx="4023360" cy="3154680"/>
          </a:xfrm>
          <a:prstGeom prst="rect">
            <a:avLst/>
          </a:prstGeom>
          <a:noFill/>
          <a:ln/>
        </p:spPr>
        <p:txBody>
          <a:bodyPr wrap="square" lIns="0" tIns="0" rIns="0" bIns="0" rtlCol="0" anchor="ctr"/>
          <a:lstStyle/>
          <a:p>
            <a:pPr marL="0" indent="0">
              <a:buNone/>
            </a:pPr>
            <a:r>
              <a:rPr lang="en-US" sz="1000" dirty="0">
                <a:solidFill>
                  <a:srgbClr val="C792EA"/>
                </a:solidFill>
                <a:latin typeface="Consolas" pitchFamily="34" charset="0"/>
                <a:ea typeface="Consolas" pitchFamily="34" charset="-122"/>
                <a:cs typeface="Consolas" pitchFamily="34" charset="-120"/>
              </a:rPr>
              <a:t>from</a:t>
            </a:r>
            <a:r>
              <a:rPr lang="en-US" sz="1000" dirty="0">
                <a:solidFill>
                  <a:srgbClr val="EEFFFF"/>
                </a:solidFill>
                <a:latin typeface="Consolas" pitchFamily="34" charset="0"/>
                <a:ea typeface="Consolas" pitchFamily="34" charset="-122"/>
                <a:cs typeface="Consolas" pitchFamily="34" charset="-120"/>
              </a:rPr>
              <a:t> sklearn.ensemble </a:t>
            </a:r>
            <a:r>
              <a:rPr lang="en-US" sz="1000" dirty="0">
                <a:solidFill>
                  <a:srgbClr val="C792EA"/>
                </a:solidFill>
                <a:latin typeface="Consolas" pitchFamily="34" charset="0"/>
                <a:ea typeface="Consolas" pitchFamily="34" charset="-122"/>
                <a:cs typeface="Consolas" pitchFamily="34" charset="-120"/>
              </a:rPr>
              <a:t>import</a:t>
            </a:r>
            <a:r>
              <a:rPr lang="en-US" sz="1000" dirty="0">
                <a:solidFill>
                  <a:srgbClr val="EEFFFF"/>
                </a:solidFill>
                <a:latin typeface="Consolas" pitchFamily="34" charset="0"/>
                <a:ea typeface="Consolas" pitchFamily="34" charset="-122"/>
                <a:cs typeface="Consolas" pitchFamily="34" charset="-120"/>
              </a:rPr>
              <a:t> RandomForestRegressor
</a:t>
            </a:r>
            <a:endParaRPr lang="en-US" sz="1000" dirty="0"/>
          </a:p>
          <a:p>
            <a:pPr marL="0" indent="0">
              <a:buNone/>
            </a:pPr>
            <a:r>
              <a:rPr lang="en-US" sz="1000" dirty="0">
                <a:solidFill>
                  <a:srgbClr val="C792EA"/>
                </a:solidFill>
                <a:latin typeface="Consolas" pitchFamily="34" charset="0"/>
                <a:ea typeface="Consolas" pitchFamily="34" charset="-122"/>
                <a:cs typeface="Consolas" pitchFamily="34" charset="-120"/>
              </a:rPr>
              <a:t>from</a:t>
            </a:r>
            <a:r>
              <a:rPr lang="en-US" sz="1000" dirty="0">
                <a:solidFill>
                  <a:srgbClr val="EEFFFF"/>
                </a:solidFill>
                <a:latin typeface="Consolas" pitchFamily="34" charset="0"/>
                <a:ea typeface="Consolas" pitchFamily="34" charset="-122"/>
                <a:cs typeface="Consolas" pitchFamily="34" charset="-120"/>
              </a:rPr>
              <a:t> sklearn.model_selection </a:t>
            </a:r>
            <a:r>
              <a:rPr lang="en-US" sz="1000" dirty="0">
                <a:solidFill>
                  <a:srgbClr val="C792EA"/>
                </a:solidFill>
                <a:latin typeface="Consolas" pitchFamily="34" charset="0"/>
                <a:ea typeface="Consolas" pitchFamily="34" charset="-122"/>
                <a:cs typeface="Consolas" pitchFamily="34" charset="-120"/>
              </a:rPr>
              <a:t>import</a:t>
            </a:r>
            <a:r>
              <a:rPr lang="en-US" sz="1000" dirty="0">
                <a:solidFill>
                  <a:srgbClr val="EEFFFF"/>
                </a:solidFill>
                <a:latin typeface="Consolas" pitchFamily="34" charset="0"/>
                <a:ea typeface="Consolas" pitchFamily="34" charset="-122"/>
                <a:cs typeface="Consolas" pitchFamily="34" charset="-120"/>
              </a:rPr>
              <a:t> train_test_split
</a:t>
            </a:r>
            <a:endParaRPr lang="en-US" sz="1000" dirty="0"/>
          </a:p>
          <a:p>
            <a:pPr marL="0" indent="0">
              <a:buNone/>
            </a:pPr>
            <a:r>
              <a:rPr lang="en-US" sz="1000" dirty="0">
                <a:solidFill>
                  <a:srgbClr val="C792EA"/>
                </a:solidFill>
                <a:latin typeface="Consolas" pitchFamily="34" charset="0"/>
                <a:ea typeface="Consolas" pitchFamily="34" charset="-122"/>
                <a:cs typeface="Consolas" pitchFamily="34" charset="-120"/>
              </a:rPr>
              <a:t>from</a:t>
            </a:r>
            <a:r>
              <a:rPr lang="en-US" sz="1000" dirty="0">
                <a:solidFill>
                  <a:srgbClr val="EEFFFF"/>
                </a:solidFill>
                <a:latin typeface="Consolas" pitchFamily="34" charset="0"/>
                <a:ea typeface="Consolas" pitchFamily="34" charset="-122"/>
                <a:cs typeface="Consolas" pitchFamily="34" charset="-120"/>
              </a:rPr>
              <a:t> sklearn.metrics </a:t>
            </a:r>
            <a:r>
              <a:rPr lang="en-US" sz="1000" dirty="0">
                <a:solidFill>
                  <a:srgbClr val="C792EA"/>
                </a:solidFill>
                <a:latin typeface="Consolas" pitchFamily="34" charset="0"/>
                <a:ea typeface="Consolas" pitchFamily="34" charset="-122"/>
                <a:cs typeface="Consolas" pitchFamily="34" charset="-120"/>
              </a:rPr>
              <a:t>import</a:t>
            </a:r>
            <a:r>
              <a:rPr lang="en-US" sz="1000" dirty="0">
                <a:solidFill>
                  <a:srgbClr val="EEFFFF"/>
                </a:solidFill>
                <a:latin typeface="Consolas" pitchFamily="34" charset="0"/>
                <a:ea typeface="Consolas" pitchFamily="34" charset="-122"/>
                <a:cs typeface="Consolas" pitchFamily="34" charset="-120"/>
              </a:rPr>
              <a:t> (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mean_absolute_error, mean_squared_error, r2_score)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X_train, X_test, y_train, y_test =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train_test_split(X, y, test_size=</a:t>
            </a:r>
            <a:r>
              <a:rPr lang="en-US" sz="1000" dirty="0">
                <a:solidFill>
                  <a:srgbClr val="F78C6C"/>
                </a:solidFill>
                <a:latin typeface="Consolas" pitchFamily="34" charset="0"/>
                <a:ea typeface="Consolas" pitchFamily="34" charset="-122"/>
                <a:cs typeface="Consolas" pitchFamily="34" charset="-120"/>
              </a:rPr>
              <a:t>0.2</a:t>
            </a:r>
            <a:r>
              <a:rPr lang="en-US" sz="1000" dirty="0">
                <a:solidFill>
                  <a:srgbClr val="EEFF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random_state=</a:t>
            </a:r>
            <a:r>
              <a:rPr lang="en-US" sz="1000" dirty="0">
                <a:solidFill>
                  <a:srgbClr val="F78C6C"/>
                </a:solidFill>
                <a:latin typeface="Consolas" pitchFamily="34" charset="0"/>
                <a:ea typeface="Consolas" pitchFamily="34" charset="-122"/>
                <a:cs typeface="Consolas" pitchFamily="34" charset="-120"/>
              </a:rPr>
              <a:t>42</a:t>
            </a:r>
            <a:r>
              <a:rPr lang="en-US" sz="1000" dirty="0">
                <a:solidFill>
                  <a:srgbClr val="EEFF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82AAFF"/>
                </a:solidFill>
                <a:latin typeface="Consolas" pitchFamily="34" charset="0"/>
                <a:ea typeface="Consolas" pitchFamily="34" charset="-122"/>
                <a:cs typeface="Consolas" pitchFamily="34" charset="-120"/>
              </a:rPr>
              <a:t>rf_model = RandomForestRegressor(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n_estimators=</a:t>
            </a:r>
            <a:r>
              <a:rPr lang="en-US" sz="1000" dirty="0">
                <a:solidFill>
                  <a:srgbClr val="F78C6C"/>
                </a:solidFill>
                <a:latin typeface="Consolas" pitchFamily="34" charset="0"/>
                <a:ea typeface="Consolas" pitchFamily="34" charset="-122"/>
                <a:cs typeface="Consolas" pitchFamily="34" charset="-120"/>
              </a:rPr>
              <a:t>200</a:t>
            </a:r>
            <a:r>
              <a:rPr lang="en-US" sz="1000" dirty="0">
                <a:solidFill>
                  <a:srgbClr val="EEFF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random_state=</a:t>
            </a:r>
            <a:r>
              <a:rPr lang="en-US" sz="1000" dirty="0">
                <a:solidFill>
                  <a:srgbClr val="F78C6C"/>
                </a:solidFill>
                <a:latin typeface="Consolas" pitchFamily="34" charset="0"/>
                <a:ea typeface="Consolas" pitchFamily="34" charset="-122"/>
                <a:cs typeface="Consolas" pitchFamily="34" charset="-120"/>
              </a:rPr>
              <a:t>42
</a:t>
            </a:r>
            <a:endParaRPr lang="en-US" sz="1000" dirty="0"/>
          </a:p>
          <a:p>
            <a:pPr marL="0" indent="0">
              <a:buNone/>
            </a:pPr>
            <a:r>
              <a:rPr lang="en-US" sz="1000" dirty="0">
                <a:solidFill>
                  <a:srgbClr val="EEFFFF"/>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82AAFF"/>
                </a:solidFill>
                <a:latin typeface="Consolas" pitchFamily="34" charset="0"/>
                <a:ea typeface="Consolas" pitchFamily="34" charset="-122"/>
                <a:cs typeface="Consolas" pitchFamily="34" charset="-120"/>
              </a:rPr>
              <a:t>rf_model.fit(X_train, y_train)
</a:t>
            </a:r>
            <a:endParaRPr lang="en-US" sz="1000" dirty="0"/>
          </a:p>
          <a:p>
            <a:pPr marL="0" indent="0">
              <a:buNone/>
            </a:pPr>
            <a:r>
              <a:rPr lang="en-US" sz="1000" dirty="0">
                <a:solidFill>
                  <a:srgbClr val="82AAFF"/>
                </a:solidFill>
                <a:latin typeface="Consolas" pitchFamily="34" charset="0"/>
                <a:ea typeface="Consolas" pitchFamily="34" charset="-122"/>
                <a:cs typeface="Consolas" pitchFamily="34" charset="-120"/>
              </a:rPr>
              <a:t>y_pred_rf = rf_model.predict(X_test)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Model Evaluation — Performance Metrics</a:t>
            </a:r>
            <a:endParaRPr lang="en-US" sz="2400" dirty="0"/>
          </a:p>
        </p:txBody>
      </p:sp>
      <p:sp>
        <p:nvSpPr>
          <p:cNvPr id="4" name="Shape 2"/>
          <p:cNvSpPr/>
          <p:nvPr/>
        </p:nvSpPr>
        <p:spPr>
          <a:xfrm>
            <a:off x="365760" y="1078992"/>
            <a:ext cx="1920240" cy="3657600"/>
          </a:xfrm>
          <a:prstGeom prst="rect">
            <a:avLst/>
          </a:prstGeom>
          <a:solidFill>
            <a:srgbClr val="FFFFFF"/>
          </a:solidFill>
          <a:ln w="12700">
            <a:solidFill>
              <a:srgbClr val="E0DDD4"/>
            </a:solidFill>
            <a:prstDash val="solid"/>
          </a:ln>
          <a:effectLst>
            <a:outerShdw blurRad="76200" dist="25400" dir="8100000" algn="bl" rotWithShape="0">
              <a:srgbClr val="000000">
                <a:alpha val="7000"/>
              </a:srgbClr>
            </a:outerShdw>
          </a:effectLst>
        </p:spPr>
        <p:txBody>
          <a:bodyPr/>
          <a:lstStyle/>
          <a:p>
            <a:endParaRPr lang="en-US"/>
          </a:p>
        </p:txBody>
      </p:sp>
      <p:sp>
        <p:nvSpPr>
          <p:cNvPr id="5" name="Shape 3"/>
          <p:cNvSpPr/>
          <p:nvPr/>
        </p:nvSpPr>
        <p:spPr>
          <a:xfrm>
            <a:off x="365760" y="1078992"/>
            <a:ext cx="1920240" cy="420624"/>
          </a:xfrm>
          <a:prstGeom prst="rect">
            <a:avLst/>
          </a:prstGeom>
          <a:solidFill>
            <a:srgbClr val="1A3C2B"/>
          </a:solidFill>
          <a:ln w="12700">
            <a:solidFill>
              <a:srgbClr val="1A3C2B"/>
            </a:solidFill>
            <a:prstDash val="solid"/>
          </a:ln>
        </p:spPr>
        <p:txBody>
          <a:bodyPr/>
          <a:lstStyle/>
          <a:p>
            <a:endParaRPr lang="en-US"/>
          </a:p>
        </p:txBody>
      </p:sp>
      <p:sp>
        <p:nvSpPr>
          <p:cNvPr id="6" name="Text 4"/>
          <p:cNvSpPr/>
          <p:nvPr/>
        </p:nvSpPr>
        <p:spPr>
          <a:xfrm>
            <a:off x="365760" y="1097280"/>
            <a:ext cx="1920240" cy="365760"/>
          </a:xfrm>
          <a:prstGeom prst="rect">
            <a:avLst/>
          </a:prstGeom>
          <a:noFill/>
          <a:ln/>
        </p:spPr>
        <p:txBody>
          <a:bodyPr wrap="square" lIns="0" tIns="0" rIns="0" bIns="0" rtlCol="0" anchor="ctr"/>
          <a:lstStyle/>
          <a:p>
            <a:pPr marL="0" indent="0" algn="ctr">
              <a:buNone/>
            </a:pPr>
            <a:r>
              <a:rPr lang="en-US" sz="1500" b="1" dirty="0">
                <a:solidFill>
                  <a:srgbClr val="C8963E"/>
                </a:solidFill>
                <a:latin typeface="Georgia" pitchFamily="34" charset="0"/>
                <a:ea typeface="Georgia" pitchFamily="34" charset="-122"/>
                <a:cs typeface="Georgia" pitchFamily="34" charset="-120"/>
              </a:rPr>
              <a:t>MAE</a:t>
            </a:r>
            <a:endParaRPr lang="en-US" sz="1500" dirty="0"/>
          </a:p>
        </p:txBody>
      </p:sp>
      <p:sp>
        <p:nvSpPr>
          <p:cNvPr id="7" name="Text 5"/>
          <p:cNvSpPr/>
          <p:nvPr/>
        </p:nvSpPr>
        <p:spPr>
          <a:xfrm>
            <a:off x="365760" y="1600200"/>
            <a:ext cx="1920240" cy="868680"/>
          </a:xfrm>
          <a:prstGeom prst="rect">
            <a:avLst/>
          </a:prstGeom>
          <a:noFill/>
          <a:ln/>
        </p:spPr>
        <p:txBody>
          <a:bodyPr wrap="square" lIns="0" tIns="0" rIns="0" bIns="0" rtlCol="0" anchor="ctr"/>
          <a:lstStyle/>
          <a:p>
            <a:pPr marL="0" indent="0" algn="ctr">
              <a:buNone/>
            </a:pPr>
            <a:r>
              <a:rPr lang="en-US" sz="3400" b="1" dirty="0">
                <a:solidFill>
                  <a:srgbClr val="1A3C2B"/>
                </a:solidFill>
                <a:latin typeface="Georgia" pitchFamily="34" charset="0"/>
                <a:ea typeface="Georgia" pitchFamily="34" charset="-122"/>
                <a:cs typeface="Georgia" pitchFamily="34" charset="-120"/>
              </a:rPr>
              <a:t>$2,545</a:t>
            </a:r>
            <a:endParaRPr lang="en-US" sz="3400" dirty="0"/>
          </a:p>
        </p:txBody>
      </p:sp>
      <p:sp>
        <p:nvSpPr>
          <p:cNvPr id="8" name="Text 6"/>
          <p:cNvSpPr/>
          <p:nvPr/>
        </p:nvSpPr>
        <p:spPr>
          <a:xfrm>
            <a:off x="457200" y="2514600"/>
            <a:ext cx="1737360" cy="292608"/>
          </a:xfrm>
          <a:prstGeom prst="rect">
            <a:avLst/>
          </a:prstGeom>
          <a:noFill/>
          <a:ln/>
        </p:spPr>
        <p:txBody>
          <a:bodyPr wrap="square" lIns="0" tIns="0" rIns="0" bIns="0" rtlCol="0" anchor="ctr"/>
          <a:lstStyle/>
          <a:p>
            <a:pPr marL="0" indent="0" algn="ctr">
              <a:buNone/>
            </a:pPr>
            <a:r>
              <a:rPr lang="en-US" sz="1000" b="1" dirty="0">
                <a:solidFill>
                  <a:srgbClr val="4A7C59"/>
                </a:solidFill>
                <a:latin typeface="Calibri" pitchFamily="34" charset="0"/>
                <a:ea typeface="Calibri" pitchFamily="34" charset="-122"/>
                <a:cs typeface="Calibri" pitchFamily="34" charset="-120"/>
              </a:rPr>
              <a:t>Mean Absolute Error</a:t>
            </a:r>
            <a:endParaRPr lang="en-US" sz="1000" dirty="0"/>
          </a:p>
        </p:txBody>
      </p:sp>
      <p:sp>
        <p:nvSpPr>
          <p:cNvPr id="9" name="Text 7"/>
          <p:cNvSpPr/>
          <p:nvPr/>
        </p:nvSpPr>
        <p:spPr>
          <a:xfrm>
            <a:off x="457200" y="2852928"/>
            <a:ext cx="1737360" cy="178308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On average the model's prediction deviates from actual expenses by $2,545. Given a target range of $1,122–$63,770, this is a precise result.</a:t>
            </a:r>
            <a:endParaRPr lang="en-US" sz="1000" dirty="0"/>
          </a:p>
        </p:txBody>
      </p:sp>
      <p:sp>
        <p:nvSpPr>
          <p:cNvPr id="10" name="Shape 8"/>
          <p:cNvSpPr/>
          <p:nvPr/>
        </p:nvSpPr>
        <p:spPr>
          <a:xfrm>
            <a:off x="2468880" y="1078992"/>
            <a:ext cx="1920240" cy="3657600"/>
          </a:xfrm>
          <a:prstGeom prst="rect">
            <a:avLst/>
          </a:prstGeom>
          <a:solidFill>
            <a:srgbClr val="FFFFFF"/>
          </a:solidFill>
          <a:ln w="12700">
            <a:solidFill>
              <a:srgbClr val="E0DDD4"/>
            </a:solidFill>
            <a:prstDash val="solid"/>
          </a:ln>
          <a:effectLst>
            <a:outerShdw blurRad="76200" dist="25400" dir="8100000" algn="bl" rotWithShape="0">
              <a:srgbClr val="000000">
                <a:alpha val="7000"/>
              </a:srgbClr>
            </a:outerShdw>
          </a:effectLst>
        </p:spPr>
        <p:txBody>
          <a:bodyPr/>
          <a:lstStyle/>
          <a:p>
            <a:endParaRPr lang="en-US"/>
          </a:p>
        </p:txBody>
      </p:sp>
      <p:sp>
        <p:nvSpPr>
          <p:cNvPr id="11" name="Shape 9"/>
          <p:cNvSpPr/>
          <p:nvPr/>
        </p:nvSpPr>
        <p:spPr>
          <a:xfrm>
            <a:off x="2468880" y="1078992"/>
            <a:ext cx="1920240" cy="420624"/>
          </a:xfrm>
          <a:prstGeom prst="rect">
            <a:avLst/>
          </a:prstGeom>
          <a:solidFill>
            <a:srgbClr val="1A3C2B"/>
          </a:solidFill>
          <a:ln w="12700">
            <a:solidFill>
              <a:srgbClr val="1A3C2B"/>
            </a:solidFill>
            <a:prstDash val="solid"/>
          </a:ln>
        </p:spPr>
        <p:txBody>
          <a:bodyPr/>
          <a:lstStyle/>
          <a:p>
            <a:endParaRPr lang="en-US"/>
          </a:p>
        </p:txBody>
      </p:sp>
      <p:sp>
        <p:nvSpPr>
          <p:cNvPr id="12" name="Text 10"/>
          <p:cNvSpPr/>
          <p:nvPr/>
        </p:nvSpPr>
        <p:spPr>
          <a:xfrm>
            <a:off x="2468880" y="1097280"/>
            <a:ext cx="1920240" cy="365760"/>
          </a:xfrm>
          <a:prstGeom prst="rect">
            <a:avLst/>
          </a:prstGeom>
          <a:noFill/>
          <a:ln/>
        </p:spPr>
        <p:txBody>
          <a:bodyPr wrap="square" lIns="0" tIns="0" rIns="0" bIns="0" rtlCol="0" anchor="ctr"/>
          <a:lstStyle/>
          <a:p>
            <a:pPr marL="0" indent="0" algn="ctr">
              <a:buNone/>
            </a:pPr>
            <a:r>
              <a:rPr lang="en-US" sz="1500" b="1" dirty="0">
                <a:solidFill>
                  <a:srgbClr val="C8963E"/>
                </a:solidFill>
                <a:latin typeface="Georgia" pitchFamily="34" charset="0"/>
                <a:ea typeface="Georgia" pitchFamily="34" charset="-122"/>
                <a:cs typeface="Georgia" pitchFamily="34" charset="-120"/>
              </a:rPr>
              <a:t>RMSE</a:t>
            </a:r>
            <a:endParaRPr lang="en-US" sz="1500" dirty="0"/>
          </a:p>
        </p:txBody>
      </p:sp>
      <p:sp>
        <p:nvSpPr>
          <p:cNvPr id="13" name="Text 11"/>
          <p:cNvSpPr/>
          <p:nvPr/>
        </p:nvSpPr>
        <p:spPr>
          <a:xfrm>
            <a:off x="2468880" y="1600200"/>
            <a:ext cx="1920240" cy="868680"/>
          </a:xfrm>
          <a:prstGeom prst="rect">
            <a:avLst/>
          </a:prstGeom>
          <a:noFill/>
          <a:ln/>
        </p:spPr>
        <p:txBody>
          <a:bodyPr wrap="square" lIns="0" tIns="0" rIns="0" bIns="0" rtlCol="0" anchor="ctr"/>
          <a:lstStyle/>
          <a:p>
            <a:pPr marL="0" indent="0" algn="ctr">
              <a:buNone/>
            </a:pPr>
            <a:r>
              <a:rPr lang="en-US" sz="3400" b="1" dirty="0">
                <a:solidFill>
                  <a:srgbClr val="1A3C2B"/>
                </a:solidFill>
                <a:latin typeface="Georgia" pitchFamily="34" charset="0"/>
                <a:ea typeface="Georgia" pitchFamily="34" charset="-122"/>
                <a:cs typeface="Georgia" pitchFamily="34" charset="-120"/>
              </a:rPr>
              <a:t>$4,618</a:t>
            </a:r>
            <a:endParaRPr lang="en-US" sz="3400" dirty="0"/>
          </a:p>
        </p:txBody>
      </p:sp>
      <p:sp>
        <p:nvSpPr>
          <p:cNvPr id="14" name="Text 12"/>
          <p:cNvSpPr/>
          <p:nvPr/>
        </p:nvSpPr>
        <p:spPr>
          <a:xfrm>
            <a:off x="2560320" y="2514600"/>
            <a:ext cx="1737360" cy="292608"/>
          </a:xfrm>
          <a:prstGeom prst="rect">
            <a:avLst/>
          </a:prstGeom>
          <a:noFill/>
          <a:ln/>
        </p:spPr>
        <p:txBody>
          <a:bodyPr wrap="square" lIns="0" tIns="0" rIns="0" bIns="0" rtlCol="0" anchor="ctr"/>
          <a:lstStyle/>
          <a:p>
            <a:pPr marL="0" indent="0" algn="ctr">
              <a:buNone/>
            </a:pPr>
            <a:r>
              <a:rPr lang="en-US" sz="1000" b="1" dirty="0">
                <a:solidFill>
                  <a:srgbClr val="4A7C59"/>
                </a:solidFill>
                <a:latin typeface="Calibri" pitchFamily="34" charset="0"/>
                <a:ea typeface="Calibri" pitchFamily="34" charset="-122"/>
                <a:cs typeface="Calibri" pitchFamily="34" charset="-120"/>
              </a:rPr>
              <a:t>Root Mean Sq. Error</a:t>
            </a:r>
            <a:endParaRPr lang="en-US" sz="1000" dirty="0"/>
          </a:p>
        </p:txBody>
      </p:sp>
      <p:sp>
        <p:nvSpPr>
          <p:cNvPr id="15" name="Text 13"/>
          <p:cNvSpPr/>
          <p:nvPr/>
        </p:nvSpPr>
        <p:spPr>
          <a:xfrm>
            <a:off x="2560320" y="2852928"/>
            <a:ext cx="1737360" cy="178308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RMSE penalises large errors more heavily. The $4,618 value reflects a small number of high-cost outliers where the model slightly underestimates.</a:t>
            </a:r>
            <a:endParaRPr lang="en-US" sz="1000" dirty="0"/>
          </a:p>
        </p:txBody>
      </p:sp>
      <p:sp>
        <p:nvSpPr>
          <p:cNvPr id="16" name="Shape 14"/>
          <p:cNvSpPr/>
          <p:nvPr/>
        </p:nvSpPr>
        <p:spPr>
          <a:xfrm>
            <a:off x="4572000" y="1078992"/>
            <a:ext cx="1920240" cy="3657600"/>
          </a:xfrm>
          <a:prstGeom prst="rect">
            <a:avLst/>
          </a:prstGeom>
          <a:solidFill>
            <a:srgbClr val="FFFFFF"/>
          </a:solidFill>
          <a:ln w="12700">
            <a:solidFill>
              <a:srgbClr val="E0DDD4"/>
            </a:solidFill>
            <a:prstDash val="solid"/>
          </a:ln>
          <a:effectLst>
            <a:outerShdw blurRad="76200" dist="25400" dir="8100000" algn="bl" rotWithShape="0">
              <a:srgbClr val="000000">
                <a:alpha val="7000"/>
              </a:srgbClr>
            </a:outerShdw>
          </a:effectLst>
        </p:spPr>
        <p:txBody>
          <a:bodyPr/>
          <a:lstStyle/>
          <a:p>
            <a:endParaRPr lang="en-US"/>
          </a:p>
        </p:txBody>
      </p:sp>
      <p:sp>
        <p:nvSpPr>
          <p:cNvPr id="17" name="Shape 15"/>
          <p:cNvSpPr/>
          <p:nvPr/>
        </p:nvSpPr>
        <p:spPr>
          <a:xfrm>
            <a:off x="4572000" y="1078992"/>
            <a:ext cx="1920240" cy="420624"/>
          </a:xfrm>
          <a:prstGeom prst="rect">
            <a:avLst/>
          </a:prstGeom>
          <a:solidFill>
            <a:srgbClr val="1A3C2B"/>
          </a:solidFill>
          <a:ln w="12700">
            <a:solidFill>
              <a:srgbClr val="1A3C2B"/>
            </a:solidFill>
            <a:prstDash val="solid"/>
          </a:ln>
        </p:spPr>
        <p:txBody>
          <a:bodyPr/>
          <a:lstStyle/>
          <a:p>
            <a:endParaRPr lang="en-US"/>
          </a:p>
        </p:txBody>
      </p:sp>
      <p:sp>
        <p:nvSpPr>
          <p:cNvPr id="18" name="Text 16"/>
          <p:cNvSpPr/>
          <p:nvPr/>
        </p:nvSpPr>
        <p:spPr>
          <a:xfrm>
            <a:off x="4572000" y="1097280"/>
            <a:ext cx="1920240" cy="365760"/>
          </a:xfrm>
          <a:prstGeom prst="rect">
            <a:avLst/>
          </a:prstGeom>
          <a:noFill/>
          <a:ln/>
        </p:spPr>
        <p:txBody>
          <a:bodyPr wrap="square" lIns="0" tIns="0" rIns="0" bIns="0" rtlCol="0" anchor="ctr"/>
          <a:lstStyle/>
          <a:p>
            <a:pPr marL="0" indent="0" algn="ctr">
              <a:buNone/>
            </a:pPr>
            <a:r>
              <a:rPr lang="en-US" sz="1500" b="1" dirty="0">
                <a:solidFill>
                  <a:srgbClr val="C8963E"/>
                </a:solidFill>
                <a:latin typeface="Georgia" pitchFamily="34" charset="0"/>
                <a:ea typeface="Georgia" pitchFamily="34" charset="-122"/>
                <a:cs typeface="Georgia" pitchFamily="34" charset="-120"/>
              </a:rPr>
              <a:t>R²</a:t>
            </a:r>
            <a:endParaRPr lang="en-US" sz="1500" dirty="0"/>
          </a:p>
        </p:txBody>
      </p:sp>
      <p:sp>
        <p:nvSpPr>
          <p:cNvPr id="19" name="Text 17"/>
          <p:cNvSpPr/>
          <p:nvPr/>
        </p:nvSpPr>
        <p:spPr>
          <a:xfrm>
            <a:off x="4572000" y="1600200"/>
            <a:ext cx="1920240" cy="868680"/>
          </a:xfrm>
          <a:prstGeom prst="rect">
            <a:avLst/>
          </a:prstGeom>
          <a:noFill/>
          <a:ln/>
        </p:spPr>
        <p:txBody>
          <a:bodyPr wrap="square" lIns="0" tIns="0" rIns="0" bIns="0" rtlCol="0" anchor="ctr"/>
          <a:lstStyle/>
          <a:p>
            <a:pPr marL="0" indent="0" algn="ctr">
              <a:buNone/>
            </a:pPr>
            <a:r>
              <a:rPr lang="en-US" sz="3400" b="1" dirty="0">
                <a:solidFill>
                  <a:srgbClr val="1A3C2B"/>
                </a:solidFill>
                <a:latin typeface="Georgia" pitchFamily="34" charset="0"/>
                <a:ea typeface="Georgia" pitchFamily="34" charset="-122"/>
                <a:cs typeface="Georgia" pitchFamily="34" charset="-120"/>
              </a:rPr>
              <a:t>0.884</a:t>
            </a:r>
            <a:endParaRPr lang="en-US" sz="3400" dirty="0"/>
          </a:p>
        </p:txBody>
      </p:sp>
      <p:sp>
        <p:nvSpPr>
          <p:cNvPr id="20" name="Text 18"/>
          <p:cNvSpPr/>
          <p:nvPr/>
        </p:nvSpPr>
        <p:spPr>
          <a:xfrm>
            <a:off x="4663440" y="2514600"/>
            <a:ext cx="1737360" cy="292608"/>
          </a:xfrm>
          <a:prstGeom prst="rect">
            <a:avLst/>
          </a:prstGeom>
          <a:noFill/>
          <a:ln/>
        </p:spPr>
        <p:txBody>
          <a:bodyPr wrap="square" lIns="0" tIns="0" rIns="0" bIns="0" rtlCol="0" anchor="ctr"/>
          <a:lstStyle/>
          <a:p>
            <a:pPr marL="0" indent="0" algn="ctr">
              <a:buNone/>
            </a:pPr>
            <a:r>
              <a:rPr lang="en-US" sz="1000" b="1" dirty="0">
                <a:solidFill>
                  <a:srgbClr val="4A7C59"/>
                </a:solidFill>
                <a:latin typeface="Calibri" pitchFamily="34" charset="0"/>
                <a:ea typeface="Calibri" pitchFamily="34" charset="-122"/>
                <a:cs typeface="Calibri" pitchFamily="34" charset="-120"/>
              </a:rPr>
              <a:t>R-Squared Score</a:t>
            </a:r>
            <a:endParaRPr lang="en-US" sz="1000" dirty="0"/>
          </a:p>
        </p:txBody>
      </p:sp>
      <p:sp>
        <p:nvSpPr>
          <p:cNvPr id="21" name="Text 19"/>
          <p:cNvSpPr/>
          <p:nvPr/>
        </p:nvSpPr>
        <p:spPr>
          <a:xfrm>
            <a:off x="4663440" y="2852928"/>
            <a:ext cx="1737360" cy="178308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The model explains 88.4% of the variance in insurance expenses — a strong result showing the model has captured the key cost drivers effectively.</a:t>
            </a:r>
            <a:endParaRPr lang="en-US" sz="1000" dirty="0"/>
          </a:p>
        </p:txBody>
      </p:sp>
      <p:sp>
        <p:nvSpPr>
          <p:cNvPr id="22" name="Shape 20"/>
          <p:cNvSpPr/>
          <p:nvPr/>
        </p:nvSpPr>
        <p:spPr>
          <a:xfrm>
            <a:off x="6675120" y="1078992"/>
            <a:ext cx="1920240" cy="3657600"/>
          </a:xfrm>
          <a:prstGeom prst="rect">
            <a:avLst/>
          </a:prstGeom>
          <a:solidFill>
            <a:srgbClr val="FFFFFF"/>
          </a:solidFill>
          <a:ln w="12700">
            <a:solidFill>
              <a:srgbClr val="E0DDD4"/>
            </a:solidFill>
            <a:prstDash val="solid"/>
          </a:ln>
          <a:effectLst>
            <a:outerShdw blurRad="76200" dist="25400" dir="8100000" algn="bl" rotWithShape="0">
              <a:srgbClr val="000000">
                <a:alpha val="7000"/>
              </a:srgbClr>
            </a:outerShdw>
          </a:effectLst>
        </p:spPr>
        <p:txBody>
          <a:bodyPr/>
          <a:lstStyle/>
          <a:p>
            <a:endParaRPr lang="en-US"/>
          </a:p>
        </p:txBody>
      </p:sp>
      <p:sp>
        <p:nvSpPr>
          <p:cNvPr id="23" name="Shape 21"/>
          <p:cNvSpPr/>
          <p:nvPr/>
        </p:nvSpPr>
        <p:spPr>
          <a:xfrm>
            <a:off x="6675120" y="1078992"/>
            <a:ext cx="1920240" cy="420624"/>
          </a:xfrm>
          <a:prstGeom prst="rect">
            <a:avLst/>
          </a:prstGeom>
          <a:solidFill>
            <a:srgbClr val="1A3C2B"/>
          </a:solidFill>
          <a:ln w="12700">
            <a:solidFill>
              <a:srgbClr val="1A3C2B"/>
            </a:solidFill>
            <a:prstDash val="solid"/>
          </a:ln>
        </p:spPr>
        <p:txBody>
          <a:bodyPr/>
          <a:lstStyle/>
          <a:p>
            <a:endParaRPr lang="en-US"/>
          </a:p>
        </p:txBody>
      </p:sp>
      <p:sp>
        <p:nvSpPr>
          <p:cNvPr id="24" name="Text 22"/>
          <p:cNvSpPr/>
          <p:nvPr/>
        </p:nvSpPr>
        <p:spPr>
          <a:xfrm>
            <a:off x="6675120" y="1097280"/>
            <a:ext cx="1920240" cy="365760"/>
          </a:xfrm>
          <a:prstGeom prst="rect">
            <a:avLst/>
          </a:prstGeom>
          <a:noFill/>
          <a:ln/>
        </p:spPr>
        <p:txBody>
          <a:bodyPr wrap="square" lIns="0" tIns="0" rIns="0" bIns="0" rtlCol="0" anchor="ctr"/>
          <a:lstStyle/>
          <a:p>
            <a:pPr marL="0" indent="0" algn="ctr">
              <a:buNone/>
            </a:pPr>
            <a:r>
              <a:rPr lang="en-US" sz="1500" b="1" dirty="0">
                <a:solidFill>
                  <a:srgbClr val="C8963E"/>
                </a:solidFill>
                <a:latin typeface="Georgia" pitchFamily="34" charset="0"/>
                <a:ea typeface="Georgia" pitchFamily="34" charset="-122"/>
                <a:cs typeface="Georgia" pitchFamily="34" charset="-120"/>
              </a:rPr>
              <a:t>n</a:t>
            </a:r>
            <a:endParaRPr lang="en-US" sz="1500" dirty="0"/>
          </a:p>
        </p:txBody>
      </p:sp>
      <p:sp>
        <p:nvSpPr>
          <p:cNvPr id="25" name="Text 23"/>
          <p:cNvSpPr/>
          <p:nvPr/>
        </p:nvSpPr>
        <p:spPr>
          <a:xfrm>
            <a:off x="6675120" y="1600200"/>
            <a:ext cx="1920240" cy="868680"/>
          </a:xfrm>
          <a:prstGeom prst="rect">
            <a:avLst/>
          </a:prstGeom>
          <a:noFill/>
          <a:ln/>
        </p:spPr>
        <p:txBody>
          <a:bodyPr wrap="square" lIns="0" tIns="0" rIns="0" bIns="0" rtlCol="0" anchor="ctr"/>
          <a:lstStyle/>
          <a:p>
            <a:pPr marL="0" indent="0" algn="ctr">
              <a:buNone/>
            </a:pPr>
            <a:r>
              <a:rPr lang="en-US" sz="3400" b="1" dirty="0">
                <a:solidFill>
                  <a:srgbClr val="1A3C2B"/>
                </a:solidFill>
                <a:latin typeface="Georgia" pitchFamily="34" charset="0"/>
                <a:ea typeface="Georgia" pitchFamily="34" charset="-122"/>
                <a:cs typeface="Georgia" pitchFamily="34" charset="-120"/>
              </a:rPr>
              <a:t>200</a:t>
            </a:r>
            <a:endParaRPr lang="en-US" sz="3400" dirty="0"/>
          </a:p>
        </p:txBody>
      </p:sp>
      <p:sp>
        <p:nvSpPr>
          <p:cNvPr id="26" name="Text 24"/>
          <p:cNvSpPr/>
          <p:nvPr/>
        </p:nvSpPr>
        <p:spPr>
          <a:xfrm>
            <a:off x="6766560" y="2514600"/>
            <a:ext cx="1737360" cy="292608"/>
          </a:xfrm>
          <a:prstGeom prst="rect">
            <a:avLst/>
          </a:prstGeom>
          <a:noFill/>
          <a:ln/>
        </p:spPr>
        <p:txBody>
          <a:bodyPr wrap="square" lIns="0" tIns="0" rIns="0" bIns="0" rtlCol="0" anchor="ctr"/>
          <a:lstStyle/>
          <a:p>
            <a:pPr marL="0" indent="0" algn="ctr">
              <a:buNone/>
            </a:pPr>
            <a:r>
              <a:rPr lang="en-US" sz="1000" b="1" dirty="0">
                <a:solidFill>
                  <a:srgbClr val="4A7C59"/>
                </a:solidFill>
                <a:latin typeface="Calibri" pitchFamily="34" charset="0"/>
                <a:ea typeface="Calibri" pitchFamily="34" charset="-122"/>
                <a:cs typeface="Calibri" pitchFamily="34" charset="-120"/>
              </a:rPr>
              <a:t>Trees (n_estimators)</a:t>
            </a:r>
            <a:endParaRPr lang="en-US" sz="1000" dirty="0"/>
          </a:p>
        </p:txBody>
      </p:sp>
      <p:sp>
        <p:nvSpPr>
          <p:cNvPr id="27" name="Text 25"/>
          <p:cNvSpPr/>
          <p:nvPr/>
        </p:nvSpPr>
        <p:spPr>
          <a:xfrm>
            <a:off x="6766560" y="2852928"/>
            <a:ext cx="1737360" cy="178308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200 decision trees were trained and averaged. More trees reduce prediction variance further, at the cost of additional training and memory.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Model Results — Actual vs Predicted &amp; Residuals</a:t>
            </a:r>
            <a:endParaRPr lang="en-US" sz="2300" dirty="0"/>
          </a:p>
        </p:txBody>
      </p:sp>
      <p:pic>
        <p:nvPicPr>
          <p:cNvPr id="4" name="Image 0" descr="preencoded.png"/>
          <p:cNvPicPr>
            <a:picLocks noChangeAspect="1"/>
          </p:cNvPicPr>
          <p:nvPr/>
        </p:nvPicPr>
        <p:blipFill>
          <a:blip r:embed="rId3"/>
          <a:stretch>
            <a:fillRect/>
          </a:stretch>
        </p:blipFill>
        <p:spPr>
          <a:xfrm>
            <a:off x="365760" y="1078992"/>
            <a:ext cx="4572000" cy="3794760"/>
          </a:xfrm>
          <a:prstGeom prst="rect">
            <a:avLst/>
          </a:prstGeom>
        </p:spPr>
      </p:pic>
      <p:pic>
        <p:nvPicPr>
          <p:cNvPr id="5" name="Image 1" descr="preencoded.png"/>
          <p:cNvPicPr>
            <a:picLocks noChangeAspect="1"/>
          </p:cNvPicPr>
          <p:nvPr/>
        </p:nvPicPr>
        <p:blipFill>
          <a:blip r:embed="rId4"/>
          <a:stretch>
            <a:fillRect/>
          </a:stretch>
        </p:blipFill>
        <p:spPr>
          <a:xfrm>
            <a:off x="5029200" y="1078992"/>
            <a:ext cx="3749040" cy="3794760"/>
          </a:xfrm>
          <a:prstGeom prst="rect">
            <a:avLst/>
          </a:prstGeom>
        </p:spPr>
      </p:pic>
      <p:sp>
        <p:nvSpPr>
          <p:cNvPr id="6" name="Shape 2"/>
          <p:cNvSpPr/>
          <p:nvPr/>
        </p:nvSpPr>
        <p:spPr>
          <a:xfrm>
            <a:off x="365760" y="4828032"/>
            <a:ext cx="8412480" cy="182880"/>
          </a:xfrm>
          <a:prstGeom prst="rect">
            <a:avLst/>
          </a:prstGeom>
          <a:solidFill>
            <a:srgbClr val="ECEAE3"/>
          </a:solidFill>
          <a:ln w="12700">
            <a:solidFill>
              <a:srgbClr val="E0DDD4"/>
            </a:solidFill>
            <a:prstDash val="solid"/>
          </a:ln>
        </p:spPr>
        <p:txBody>
          <a:bodyPr/>
          <a:lstStyle/>
          <a:p>
            <a:endParaRPr lang="en-US"/>
          </a:p>
        </p:txBody>
      </p:sp>
      <p:sp>
        <p:nvSpPr>
          <p:cNvPr id="7" name="Text 3"/>
          <p:cNvSpPr/>
          <p:nvPr/>
        </p:nvSpPr>
        <p:spPr>
          <a:xfrm>
            <a:off x="411480" y="4828032"/>
            <a:ext cx="8321040" cy="182880"/>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Left: Points tightly cluster around the perfect-prediction line (R²=0.884). Right: Residuals are centred on zero with no systematic pattern — confirming no significant model bias.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Feature Importance — What Drives Insurance Cost?</a:t>
            </a:r>
            <a:endParaRPr lang="en-US" sz="2300" dirty="0"/>
          </a:p>
        </p:txBody>
      </p:sp>
      <p:pic>
        <p:nvPicPr>
          <p:cNvPr id="4" name="Image 0" descr="preencoded.png"/>
          <p:cNvPicPr>
            <a:picLocks noChangeAspect="1"/>
          </p:cNvPicPr>
          <p:nvPr/>
        </p:nvPicPr>
        <p:blipFill>
          <a:blip r:embed="rId3"/>
          <a:stretch>
            <a:fillRect/>
          </a:stretch>
        </p:blipFill>
        <p:spPr>
          <a:xfrm>
            <a:off x="365760" y="1078992"/>
            <a:ext cx="5029200" cy="3200400"/>
          </a:xfrm>
          <a:prstGeom prst="rect">
            <a:avLst/>
          </a:prstGeom>
        </p:spPr>
      </p:pic>
      <p:sp>
        <p:nvSpPr>
          <p:cNvPr id="5" name="Shape 2"/>
          <p:cNvSpPr/>
          <p:nvPr/>
        </p:nvSpPr>
        <p:spPr>
          <a:xfrm>
            <a:off x="5577840" y="1078992"/>
            <a:ext cx="3200400" cy="868680"/>
          </a:xfrm>
          <a:prstGeom prst="rect">
            <a:avLst/>
          </a:prstGeom>
          <a:solidFill>
            <a:srgbClr val="FFFFFF"/>
          </a:solidFill>
          <a:ln w="12700">
            <a:solidFill>
              <a:srgbClr val="E0DDD4"/>
            </a:solidFill>
            <a:prstDash val="solid"/>
          </a:ln>
        </p:spPr>
        <p:txBody>
          <a:bodyPr/>
          <a:lstStyle/>
          <a:p>
            <a:endParaRPr lang="en-US"/>
          </a:p>
        </p:txBody>
      </p:sp>
      <p:sp>
        <p:nvSpPr>
          <p:cNvPr id="6" name="Shape 3"/>
          <p:cNvSpPr/>
          <p:nvPr/>
        </p:nvSpPr>
        <p:spPr>
          <a:xfrm>
            <a:off x="5577840" y="1078992"/>
            <a:ext cx="64008" cy="868680"/>
          </a:xfrm>
          <a:prstGeom prst="rect">
            <a:avLst/>
          </a:prstGeom>
          <a:solidFill>
            <a:srgbClr val="C8963E"/>
          </a:solidFill>
          <a:ln w="12700">
            <a:solidFill>
              <a:srgbClr val="C8963E"/>
            </a:solidFill>
            <a:prstDash val="solid"/>
          </a:ln>
        </p:spPr>
        <p:txBody>
          <a:bodyPr/>
          <a:lstStyle/>
          <a:p>
            <a:endParaRPr lang="en-US"/>
          </a:p>
        </p:txBody>
      </p:sp>
      <p:sp>
        <p:nvSpPr>
          <p:cNvPr id="7" name="Text 4"/>
          <p:cNvSpPr/>
          <p:nvPr/>
        </p:nvSpPr>
        <p:spPr>
          <a:xfrm>
            <a:off x="5742432" y="1133856"/>
            <a:ext cx="2926080" cy="256032"/>
          </a:xfrm>
          <a:prstGeom prst="rect">
            <a:avLst/>
          </a:prstGeom>
          <a:noFill/>
          <a:ln/>
        </p:spPr>
        <p:txBody>
          <a:bodyPr wrap="square" lIns="0" tIns="0" rIns="0" bIns="0" rtlCol="0" anchor="ctr"/>
          <a:lstStyle/>
          <a:p>
            <a:pPr marL="0" indent="0">
              <a:buNone/>
            </a:pPr>
            <a:r>
              <a:rPr lang="en-US" sz="1100" b="1" dirty="0">
                <a:solidFill>
                  <a:srgbClr val="1A3C2B"/>
                </a:solidFill>
                <a:latin typeface="Calibri" pitchFamily="34" charset="0"/>
                <a:ea typeface="Calibri" pitchFamily="34" charset="-122"/>
                <a:cs typeface="Calibri" pitchFamily="34" charset="-120"/>
              </a:rPr>
              <a:t>smoker — 59.9%</a:t>
            </a:r>
            <a:endParaRPr lang="en-US" sz="1100" dirty="0"/>
          </a:p>
        </p:txBody>
      </p:sp>
      <p:sp>
        <p:nvSpPr>
          <p:cNvPr id="8" name="Text 5"/>
          <p:cNvSpPr/>
          <p:nvPr/>
        </p:nvSpPr>
        <p:spPr>
          <a:xfrm>
            <a:off x="5742432" y="1444752"/>
            <a:ext cx="2926080" cy="45720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Smoking status is the dominant predictor, accounting for nearly 60% of the model's predictive power. This mirrors its 0.79 correlation with expenses — the largest of any feature.</a:t>
            </a:r>
            <a:endParaRPr lang="en-US" sz="1000" dirty="0"/>
          </a:p>
        </p:txBody>
      </p:sp>
      <p:sp>
        <p:nvSpPr>
          <p:cNvPr id="9" name="Shape 6"/>
          <p:cNvSpPr/>
          <p:nvPr/>
        </p:nvSpPr>
        <p:spPr>
          <a:xfrm>
            <a:off x="5577840" y="2048256"/>
            <a:ext cx="3200400" cy="868680"/>
          </a:xfrm>
          <a:prstGeom prst="rect">
            <a:avLst/>
          </a:prstGeom>
          <a:solidFill>
            <a:srgbClr val="ECEAE3"/>
          </a:solidFill>
          <a:ln w="12700">
            <a:solidFill>
              <a:srgbClr val="E0DDD4"/>
            </a:solidFill>
            <a:prstDash val="solid"/>
          </a:ln>
        </p:spPr>
        <p:txBody>
          <a:bodyPr/>
          <a:lstStyle/>
          <a:p>
            <a:endParaRPr lang="en-US"/>
          </a:p>
        </p:txBody>
      </p:sp>
      <p:sp>
        <p:nvSpPr>
          <p:cNvPr id="10" name="Shape 7"/>
          <p:cNvSpPr/>
          <p:nvPr/>
        </p:nvSpPr>
        <p:spPr>
          <a:xfrm>
            <a:off x="5577840" y="2048256"/>
            <a:ext cx="64008" cy="868680"/>
          </a:xfrm>
          <a:prstGeom prst="rect">
            <a:avLst/>
          </a:prstGeom>
          <a:solidFill>
            <a:srgbClr val="C8963E"/>
          </a:solidFill>
          <a:ln w="12700">
            <a:solidFill>
              <a:srgbClr val="C8963E"/>
            </a:solidFill>
            <a:prstDash val="solid"/>
          </a:ln>
        </p:spPr>
        <p:txBody>
          <a:bodyPr/>
          <a:lstStyle/>
          <a:p>
            <a:endParaRPr lang="en-US"/>
          </a:p>
        </p:txBody>
      </p:sp>
      <p:sp>
        <p:nvSpPr>
          <p:cNvPr id="11" name="Text 8"/>
          <p:cNvSpPr/>
          <p:nvPr/>
        </p:nvSpPr>
        <p:spPr>
          <a:xfrm>
            <a:off x="5742432" y="2103120"/>
            <a:ext cx="2926080" cy="256032"/>
          </a:xfrm>
          <a:prstGeom prst="rect">
            <a:avLst/>
          </a:prstGeom>
          <a:noFill/>
          <a:ln/>
        </p:spPr>
        <p:txBody>
          <a:bodyPr wrap="square" lIns="0" tIns="0" rIns="0" bIns="0" rtlCol="0" anchor="ctr"/>
          <a:lstStyle/>
          <a:p>
            <a:pPr marL="0" indent="0">
              <a:buNone/>
            </a:pPr>
            <a:r>
              <a:rPr lang="en-US" sz="1100" b="1" dirty="0">
                <a:solidFill>
                  <a:srgbClr val="1A3C2B"/>
                </a:solidFill>
                <a:latin typeface="Calibri" pitchFamily="34" charset="0"/>
                <a:ea typeface="Calibri" pitchFamily="34" charset="-122"/>
                <a:cs typeface="Calibri" pitchFamily="34" charset="-120"/>
              </a:rPr>
              <a:t>bmi — 21.5%</a:t>
            </a:r>
            <a:endParaRPr lang="en-US" sz="1100" dirty="0"/>
          </a:p>
        </p:txBody>
      </p:sp>
      <p:sp>
        <p:nvSpPr>
          <p:cNvPr id="12" name="Text 9"/>
          <p:cNvSpPr/>
          <p:nvPr/>
        </p:nvSpPr>
        <p:spPr>
          <a:xfrm>
            <a:off x="5742432" y="2414016"/>
            <a:ext cx="2926080" cy="45720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BMI is the second most important feature. Its effect is amplified for smokers (high BMI + smoking = dramatically higher costs), a non-linear interaction only tree-based models can capture.</a:t>
            </a:r>
            <a:endParaRPr lang="en-US" sz="1000" dirty="0"/>
          </a:p>
        </p:txBody>
      </p:sp>
      <p:sp>
        <p:nvSpPr>
          <p:cNvPr id="13" name="Shape 10"/>
          <p:cNvSpPr/>
          <p:nvPr/>
        </p:nvSpPr>
        <p:spPr>
          <a:xfrm>
            <a:off x="5577840" y="3017520"/>
            <a:ext cx="3200400" cy="868680"/>
          </a:xfrm>
          <a:prstGeom prst="rect">
            <a:avLst/>
          </a:prstGeom>
          <a:solidFill>
            <a:srgbClr val="FFFFFF"/>
          </a:solidFill>
          <a:ln w="12700">
            <a:solidFill>
              <a:srgbClr val="E0DDD4"/>
            </a:solidFill>
            <a:prstDash val="solid"/>
          </a:ln>
        </p:spPr>
        <p:txBody>
          <a:bodyPr/>
          <a:lstStyle/>
          <a:p>
            <a:endParaRPr lang="en-US"/>
          </a:p>
        </p:txBody>
      </p:sp>
      <p:sp>
        <p:nvSpPr>
          <p:cNvPr id="14" name="Shape 11"/>
          <p:cNvSpPr/>
          <p:nvPr/>
        </p:nvSpPr>
        <p:spPr>
          <a:xfrm>
            <a:off x="5577840" y="3017520"/>
            <a:ext cx="64008" cy="868680"/>
          </a:xfrm>
          <a:prstGeom prst="rect">
            <a:avLst/>
          </a:prstGeom>
          <a:solidFill>
            <a:srgbClr val="C8963E"/>
          </a:solidFill>
          <a:ln w="12700">
            <a:solidFill>
              <a:srgbClr val="C8963E"/>
            </a:solidFill>
            <a:prstDash val="solid"/>
          </a:ln>
        </p:spPr>
        <p:txBody>
          <a:bodyPr/>
          <a:lstStyle/>
          <a:p>
            <a:endParaRPr lang="en-US"/>
          </a:p>
        </p:txBody>
      </p:sp>
      <p:sp>
        <p:nvSpPr>
          <p:cNvPr id="15" name="Text 12"/>
          <p:cNvSpPr/>
          <p:nvPr/>
        </p:nvSpPr>
        <p:spPr>
          <a:xfrm>
            <a:off x="5742432" y="3072384"/>
            <a:ext cx="2926080" cy="256032"/>
          </a:xfrm>
          <a:prstGeom prst="rect">
            <a:avLst/>
          </a:prstGeom>
          <a:noFill/>
          <a:ln/>
        </p:spPr>
        <p:txBody>
          <a:bodyPr wrap="square" lIns="0" tIns="0" rIns="0" bIns="0" rtlCol="0" anchor="ctr"/>
          <a:lstStyle/>
          <a:p>
            <a:pPr marL="0" indent="0">
              <a:buNone/>
            </a:pPr>
            <a:r>
              <a:rPr lang="en-US" sz="1100" b="1" dirty="0">
                <a:solidFill>
                  <a:srgbClr val="1A3C2B"/>
                </a:solidFill>
                <a:latin typeface="Calibri" pitchFamily="34" charset="0"/>
                <a:ea typeface="Calibri" pitchFamily="34" charset="-122"/>
                <a:cs typeface="Calibri" pitchFamily="34" charset="-120"/>
              </a:rPr>
              <a:t>age — 13.8%</a:t>
            </a:r>
            <a:endParaRPr lang="en-US" sz="1100" dirty="0"/>
          </a:p>
        </p:txBody>
      </p:sp>
      <p:sp>
        <p:nvSpPr>
          <p:cNvPr id="16" name="Text 13"/>
          <p:cNvSpPr/>
          <p:nvPr/>
        </p:nvSpPr>
        <p:spPr>
          <a:xfrm>
            <a:off x="5742432" y="3383280"/>
            <a:ext cx="2926080" cy="45720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Older policyholders consistently incur higher expenses. Age contributes a steady, linear-style increase visible in the three rising cost bands in the EDA scatter plot.</a:t>
            </a:r>
            <a:endParaRPr lang="en-US" sz="1000" dirty="0"/>
          </a:p>
        </p:txBody>
      </p:sp>
      <p:sp>
        <p:nvSpPr>
          <p:cNvPr id="17" name="Shape 14"/>
          <p:cNvSpPr/>
          <p:nvPr/>
        </p:nvSpPr>
        <p:spPr>
          <a:xfrm>
            <a:off x="5577840" y="3986784"/>
            <a:ext cx="3200400" cy="868680"/>
          </a:xfrm>
          <a:prstGeom prst="rect">
            <a:avLst/>
          </a:prstGeom>
          <a:solidFill>
            <a:srgbClr val="ECEAE3"/>
          </a:solidFill>
          <a:ln w="12700">
            <a:solidFill>
              <a:srgbClr val="E0DDD4"/>
            </a:solidFill>
            <a:prstDash val="solid"/>
          </a:ln>
        </p:spPr>
        <p:txBody>
          <a:bodyPr/>
          <a:lstStyle/>
          <a:p>
            <a:endParaRPr lang="en-US"/>
          </a:p>
        </p:txBody>
      </p:sp>
      <p:sp>
        <p:nvSpPr>
          <p:cNvPr id="18" name="Shape 15"/>
          <p:cNvSpPr/>
          <p:nvPr/>
        </p:nvSpPr>
        <p:spPr>
          <a:xfrm>
            <a:off x="5577840" y="3986784"/>
            <a:ext cx="64008" cy="868680"/>
          </a:xfrm>
          <a:prstGeom prst="rect">
            <a:avLst/>
          </a:prstGeom>
          <a:solidFill>
            <a:srgbClr val="C8963E"/>
          </a:solidFill>
          <a:ln w="12700">
            <a:solidFill>
              <a:srgbClr val="C8963E"/>
            </a:solidFill>
            <a:prstDash val="solid"/>
          </a:ln>
        </p:spPr>
        <p:txBody>
          <a:bodyPr/>
          <a:lstStyle/>
          <a:p>
            <a:endParaRPr lang="en-US"/>
          </a:p>
        </p:txBody>
      </p:sp>
      <p:sp>
        <p:nvSpPr>
          <p:cNvPr id="19" name="Text 16"/>
          <p:cNvSpPr/>
          <p:nvPr/>
        </p:nvSpPr>
        <p:spPr>
          <a:xfrm>
            <a:off x="5742432" y="4041648"/>
            <a:ext cx="2926080" cy="256032"/>
          </a:xfrm>
          <a:prstGeom prst="rect">
            <a:avLst/>
          </a:prstGeom>
          <a:noFill/>
          <a:ln/>
        </p:spPr>
        <p:txBody>
          <a:bodyPr wrap="square" lIns="0" tIns="0" rIns="0" bIns="0" rtlCol="0" anchor="ctr"/>
          <a:lstStyle/>
          <a:p>
            <a:pPr marL="0" indent="0">
              <a:buNone/>
            </a:pPr>
            <a:r>
              <a:rPr lang="en-US" sz="1100" b="1" dirty="0">
                <a:solidFill>
                  <a:srgbClr val="1A3C2B"/>
                </a:solidFill>
                <a:latin typeface="Calibri" pitchFamily="34" charset="0"/>
                <a:ea typeface="Calibri" pitchFamily="34" charset="-122"/>
                <a:cs typeface="Calibri" pitchFamily="34" charset="-120"/>
              </a:rPr>
              <a:t>children — 2.4%</a:t>
            </a:r>
            <a:endParaRPr lang="en-US" sz="1100" dirty="0"/>
          </a:p>
        </p:txBody>
      </p:sp>
      <p:sp>
        <p:nvSpPr>
          <p:cNvPr id="20" name="Text 17"/>
          <p:cNvSpPr/>
          <p:nvPr/>
        </p:nvSpPr>
        <p:spPr>
          <a:xfrm>
            <a:off x="5742432" y="4352544"/>
            <a:ext cx="2926080" cy="457200"/>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Having more dependents adds a small but measurable cost. The effect is consistent and modest — children's routine healthcare is far less expensive than adult chronic conditions.</a:t>
            </a:r>
            <a:endParaRPr lang="en-US" sz="1000" dirty="0"/>
          </a:p>
        </p:txBody>
      </p:sp>
      <p:sp>
        <p:nvSpPr>
          <p:cNvPr id="21" name="Shape 18"/>
          <p:cNvSpPr/>
          <p:nvPr/>
        </p:nvSpPr>
        <p:spPr>
          <a:xfrm>
            <a:off x="365760" y="4407408"/>
            <a:ext cx="5029200" cy="502920"/>
          </a:xfrm>
          <a:prstGeom prst="rect">
            <a:avLst/>
          </a:prstGeom>
          <a:solidFill>
            <a:srgbClr val="1A3C2B"/>
          </a:solidFill>
          <a:ln w="12700">
            <a:solidFill>
              <a:srgbClr val="1A3C2B"/>
            </a:solidFill>
            <a:prstDash val="solid"/>
          </a:ln>
        </p:spPr>
        <p:txBody>
          <a:bodyPr/>
          <a:lstStyle/>
          <a:p>
            <a:endParaRPr lang="en-US"/>
          </a:p>
        </p:txBody>
      </p:sp>
      <p:sp>
        <p:nvSpPr>
          <p:cNvPr id="22" name="Shape 19"/>
          <p:cNvSpPr/>
          <p:nvPr/>
        </p:nvSpPr>
        <p:spPr>
          <a:xfrm>
            <a:off x="411480" y="4462272"/>
            <a:ext cx="64008" cy="384048"/>
          </a:xfrm>
          <a:prstGeom prst="rect">
            <a:avLst/>
          </a:prstGeom>
          <a:solidFill>
            <a:srgbClr val="C8963E"/>
          </a:solidFill>
          <a:ln w="12700">
            <a:solidFill>
              <a:srgbClr val="C8963E"/>
            </a:solidFill>
            <a:prstDash val="solid"/>
          </a:ln>
        </p:spPr>
        <p:txBody>
          <a:bodyPr/>
          <a:lstStyle/>
          <a:p>
            <a:endParaRPr lang="en-US"/>
          </a:p>
        </p:txBody>
      </p:sp>
      <p:sp>
        <p:nvSpPr>
          <p:cNvPr id="23" name="Text 20"/>
          <p:cNvSpPr/>
          <p:nvPr/>
        </p:nvSpPr>
        <p:spPr>
          <a:xfrm>
            <a:off x="594360" y="4462272"/>
            <a:ext cx="4663440" cy="411480"/>
          </a:xfrm>
          <a:prstGeom prst="rect">
            <a:avLst/>
          </a:prstGeom>
          <a:noFill/>
          <a:ln/>
        </p:spPr>
        <p:txBody>
          <a:bodyPr wrap="square" lIns="0" tIns="0" rIns="0" bIns="0" rtlCol="0" anchor="ctr"/>
          <a:lstStyle/>
          <a:p>
            <a:pPr marL="0" indent="0">
              <a:buNone/>
            </a:pPr>
            <a:r>
              <a:rPr lang="en-US" sz="1000" i="1" dirty="0">
                <a:solidFill>
                  <a:srgbClr val="A8C5B5"/>
                </a:solidFill>
                <a:latin typeface="Calibri" pitchFamily="34" charset="0"/>
                <a:ea typeface="Calibri" pitchFamily="34" charset="-122"/>
                <a:cs typeface="Calibri" pitchFamily="34" charset="-120"/>
              </a:rPr>
              <a:t>sex (0.8%) and region (1.7%) have negligible impact — demographic and geographic factors matter far less than lifestyle choices.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C2B"/>
          </a:solidFill>
          <a:ln w="12700">
            <a:solidFill>
              <a:srgbClr val="1A3C2B"/>
            </a:solidFill>
            <a:prstDash val="solid"/>
          </a:ln>
        </p:spPr>
        <p:txBody>
          <a:bodyPr/>
          <a:lstStyle/>
          <a:p>
            <a:endParaRPr lang="en-US"/>
          </a:p>
        </p:txBody>
      </p:sp>
      <p:sp>
        <p:nvSpPr>
          <p:cNvPr id="3" name="Text 1"/>
          <p:cNvSpPr/>
          <p:nvPr/>
        </p:nvSpPr>
        <p:spPr>
          <a:xfrm>
            <a:off x="457200" y="118872"/>
            <a:ext cx="8229600" cy="68580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Key Insights &amp; Takeaways</a:t>
            </a:r>
            <a:endParaRPr lang="en-US" sz="2600" dirty="0"/>
          </a:p>
        </p:txBody>
      </p:sp>
      <p:sp>
        <p:nvSpPr>
          <p:cNvPr id="4" name="Shape 2"/>
          <p:cNvSpPr/>
          <p:nvPr/>
        </p:nvSpPr>
        <p:spPr>
          <a:xfrm>
            <a:off x="365760" y="1078992"/>
            <a:ext cx="4114800" cy="1801368"/>
          </a:xfrm>
          <a:prstGeom prst="rect">
            <a:avLst/>
          </a:prstGeom>
          <a:solidFill>
            <a:srgbClr val="FFFFFF"/>
          </a:solidFill>
          <a:ln w="12700">
            <a:solidFill>
              <a:srgbClr val="E0DDD4"/>
            </a:solidFill>
            <a:prstDash val="solid"/>
          </a:ln>
        </p:spPr>
        <p:txBody>
          <a:bodyPr/>
          <a:lstStyle/>
          <a:p>
            <a:endParaRPr lang="en-US"/>
          </a:p>
        </p:txBody>
      </p:sp>
      <p:sp>
        <p:nvSpPr>
          <p:cNvPr id="5" name="Shape 3"/>
          <p:cNvSpPr/>
          <p:nvPr/>
        </p:nvSpPr>
        <p:spPr>
          <a:xfrm>
            <a:off x="365760" y="1078992"/>
            <a:ext cx="64008" cy="1801368"/>
          </a:xfrm>
          <a:prstGeom prst="rect">
            <a:avLst/>
          </a:prstGeom>
          <a:solidFill>
            <a:srgbClr val="C8963E"/>
          </a:solidFill>
          <a:ln w="12700">
            <a:solidFill>
              <a:srgbClr val="C8963E"/>
            </a:solidFill>
            <a:prstDash val="solid"/>
          </a:ln>
        </p:spPr>
        <p:txBody>
          <a:bodyPr/>
          <a:lstStyle/>
          <a:p>
            <a:endParaRPr lang="en-US"/>
          </a:p>
        </p:txBody>
      </p:sp>
      <p:sp>
        <p:nvSpPr>
          <p:cNvPr id="6" name="Text 4"/>
          <p:cNvSpPr/>
          <p:nvPr/>
        </p:nvSpPr>
        <p:spPr>
          <a:xfrm>
            <a:off x="530352" y="1170432"/>
            <a:ext cx="3822192" cy="292608"/>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Lifestyle Factors Dominate Cost</a:t>
            </a:r>
            <a:endParaRPr lang="en-US" sz="1150" dirty="0"/>
          </a:p>
        </p:txBody>
      </p:sp>
      <p:sp>
        <p:nvSpPr>
          <p:cNvPr id="7" name="Text 5"/>
          <p:cNvSpPr/>
          <p:nvPr/>
        </p:nvSpPr>
        <p:spPr>
          <a:xfrm>
            <a:off x="530352" y="1517904"/>
            <a:ext cx="3822192" cy="128016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Smoking (60%) and BMI (21%) together account for over 80% of the model's predictive power. Insurance pricing is primarily driven by modifiable lifestyle choices — not fixed demographics like sex or region.</a:t>
            </a:r>
            <a:endParaRPr lang="en-US" sz="1100" dirty="0"/>
          </a:p>
        </p:txBody>
      </p:sp>
      <p:sp>
        <p:nvSpPr>
          <p:cNvPr id="8" name="Shape 6"/>
          <p:cNvSpPr/>
          <p:nvPr/>
        </p:nvSpPr>
        <p:spPr>
          <a:xfrm>
            <a:off x="4800600" y="1078992"/>
            <a:ext cx="4114800" cy="1801368"/>
          </a:xfrm>
          <a:prstGeom prst="rect">
            <a:avLst/>
          </a:prstGeom>
          <a:solidFill>
            <a:srgbClr val="ECEAE3"/>
          </a:solidFill>
          <a:ln w="12700">
            <a:solidFill>
              <a:srgbClr val="E0DDD4"/>
            </a:solidFill>
            <a:prstDash val="solid"/>
          </a:ln>
        </p:spPr>
        <p:txBody>
          <a:bodyPr/>
          <a:lstStyle/>
          <a:p>
            <a:endParaRPr lang="en-US"/>
          </a:p>
        </p:txBody>
      </p:sp>
      <p:sp>
        <p:nvSpPr>
          <p:cNvPr id="9" name="Shape 7"/>
          <p:cNvSpPr/>
          <p:nvPr/>
        </p:nvSpPr>
        <p:spPr>
          <a:xfrm>
            <a:off x="4800600" y="1078992"/>
            <a:ext cx="64008" cy="1801368"/>
          </a:xfrm>
          <a:prstGeom prst="rect">
            <a:avLst/>
          </a:prstGeom>
          <a:solidFill>
            <a:srgbClr val="C8963E"/>
          </a:solidFill>
          <a:ln w="12700">
            <a:solidFill>
              <a:srgbClr val="C8963E"/>
            </a:solidFill>
            <a:prstDash val="solid"/>
          </a:ln>
        </p:spPr>
        <p:txBody>
          <a:bodyPr/>
          <a:lstStyle/>
          <a:p>
            <a:endParaRPr lang="en-US"/>
          </a:p>
        </p:txBody>
      </p:sp>
      <p:sp>
        <p:nvSpPr>
          <p:cNvPr id="10" name="Text 8"/>
          <p:cNvSpPr/>
          <p:nvPr/>
        </p:nvSpPr>
        <p:spPr>
          <a:xfrm>
            <a:off x="4965192" y="1170432"/>
            <a:ext cx="3822192" cy="292608"/>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Non-Linear Relationships Are Critical</a:t>
            </a:r>
            <a:endParaRPr lang="en-US" sz="1150" dirty="0"/>
          </a:p>
        </p:txBody>
      </p:sp>
      <p:sp>
        <p:nvSpPr>
          <p:cNvPr id="11" name="Text 9"/>
          <p:cNvSpPr/>
          <p:nvPr/>
        </p:nvSpPr>
        <p:spPr>
          <a:xfrm>
            <a:off x="4965192" y="1517904"/>
            <a:ext cx="3822192" cy="128016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A linear regression model on this same dataset achieves only R²≈0.75 vs Random Forest's 0.884. The gap confirms that smoker × BMI interactions are non-linear and can only be captured by an ensemble tree method.</a:t>
            </a:r>
            <a:endParaRPr lang="en-US" sz="1100" dirty="0"/>
          </a:p>
        </p:txBody>
      </p:sp>
      <p:sp>
        <p:nvSpPr>
          <p:cNvPr id="12" name="Shape 10"/>
          <p:cNvSpPr/>
          <p:nvPr/>
        </p:nvSpPr>
        <p:spPr>
          <a:xfrm>
            <a:off x="365760" y="3017520"/>
            <a:ext cx="4114800" cy="1801368"/>
          </a:xfrm>
          <a:prstGeom prst="rect">
            <a:avLst/>
          </a:prstGeom>
          <a:solidFill>
            <a:srgbClr val="FFFFFF"/>
          </a:solidFill>
          <a:ln w="12700">
            <a:solidFill>
              <a:srgbClr val="E0DDD4"/>
            </a:solidFill>
            <a:prstDash val="solid"/>
          </a:ln>
        </p:spPr>
        <p:txBody>
          <a:bodyPr/>
          <a:lstStyle/>
          <a:p>
            <a:endParaRPr lang="en-US"/>
          </a:p>
        </p:txBody>
      </p:sp>
      <p:sp>
        <p:nvSpPr>
          <p:cNvPr id="13" name="Shape 11"/>
          <p:cNvSpPr/>
          <p:nvPr/>
        </p:nvSpPr>
        <p:spPr>
          <a:xfrm>
            <a:off x="365760" y="3017520"/>
            <a:ext cx="64008" cy="1801368"/>
          </a:xfrm>
          <a:prstGeom prst="rect">
            <a:avLst/>
          </a:prstGeom>
          <a:solidFill>
            <a:srgbClr val="C8963E"/>
          </a:solidFill>
          <a:ln w="12700">
            <a:solidFill>
              <a:srgbClr val="C8963E"/>
            </a:solidFill>
            <a:prstDash val="solid"/>
          </a:ln>
        </p:spPr>
        <p:txBody>
          <a:bodyPr/>
          <a:lstStyle/>
          <a:p>
            <a:endParaRPr lang="en-US"/>
          </a:p>
        </p:txBody>
      </p:sp>
      <p:sp>
        <p:nvSpPr>
          <p:cNvPr id="14" name="Text 12"/>
          <p:cNvSpPr/>
          <p:nvPr/>
        </p:nvSpPr>
        <p:spPr>
          <a:xfrm>
            <a:off x="530352" y="3108960"/>
            <a:ext cx="3822192" cy="292608"/>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Model Accuracy Is Practically Useful</a:t>
            </a:r>
            <a:endParaRPr lang="en-US" sz="1150" dirty="0"/>
          </a:p>
        </p:txBody>
      </p:sp>
      <p:sp>
        <p:nvSpPr>
          <p:cNvPr id="15" name="Text 13"/>
          <p:cNvSpPr/>
          <p:nvPr/>
        </p:nvSpPr>
        <p:spPr>
          <a:xfrm>
            <a:off x="530352" y="3456432"/>
            <a:ext cx="3822192" cy="128016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MAE of $2,545 on a target spanning $1k–$64k means predictions are tight enough to be used in actuarial pricing models. The residual plot confirms no systematic under- or over-prediction across the cost range.</a:t>
            </a:r>
            <a:endParaRPr lang="en-US" sz="1100" dirty="0"/>
          </a:p>
        </p:txBody>
      </p:sp>
      <p:sp>
        <p:nvSpPr>
          <p:cNvPr id="16" name="Shape 14"/>
          <p:cNvSpPr/>
          <p:nvPr/>
        </p:nvSpPr>
        <p:spPr>
          <a:xfrm>
            <a:off x="4800600" y="3017520"/>
            <a:ext cx="4114800" cy="1801368"/>
          </a:xfrm>
          <a:prstGeom prst="rect">
            <a:avLst/>
          </a:prstGeom>
          <a:solidFill>
            <a:srgbClr val="ECEAE3"/>
          </a:solidFill>
          <a:ln w="12700">
            <a:solidFill>
              <a:srgbClr val="E0DDD4"/>
            </a:solidFill>
            <a:prstDash val="solid"/>
          </a:ln>
        </p:spPr>
        <p:txBody>
          <a:bodyPr/>
          <a:lstStyle/>
          <a:p>
            <a:endParaRPr lang="en-US"/>
          </a:p>
        </p:txBody>
      </p:sp>
      <p:sp>
        <p:nvSpPr>
          <p:cNvPr id="17" name="Shape 15"/>
          <p:cNvSpPr/>
          <p:nvPr/>
        </p:nvSpPr>
        <p:spPr>
          <a:xfrm>
            <a:off x="4800600" y="3017520"/>
            <a:ext cx="64008" cy="1801368"/>
          </a:xfrm>
          <a:prstGeom prst="rect">
            <a:avLst/>
          </a:prstGeom>
          <a:solidFill>
            <a:srgbClr val="C8963E"/>
          </a:solidFill>
          <a:ln w="12700">
            <a:solidFill>
              <a:srgbClr val="C8963E"/>
            </a:solidFill>
            <a:prstDash val="solid"/>
          </a:ln>
        </p:spPr>
        <p:txBody>
          <a:bodyPr/>
          <a:lstStyle/>
          <a:p>
            <a:endParaRPr lang="en-US"/>
          </a:p>
        </p:txBody>
      </p:sp>
      <p:sp>
        <p:nvSpPr>
          <p:cNvPr id="18" name="Text 16"/>
          <p:cNvSpPr/>
          <p:nvPr/>
        </p:nvSpPr>
        <p:spPr>
          <a:xfrm>
            <a:off x="4965192" y="3108960"/>
            <a:ext cx="3822192" cy="292608"/>
          </a:xfrm>
          <a:prstGeom prst="rect">
            <a:avLst/>
          </a:prstGeom>
          <a:noFill/>
          <a:ln/>
        </p:spPr>
        <p:txBody>
          <a:bodyPr wrap="square" lIns="0" tIns="0" rIns="0" bIns="0" rtlCol="0" anchor="ctr"/>
          <a:lstStyle/>
          <a:p>
            <a:pPr marL="0" indent="0">
              <a:buNone/>
            </a:pPr>
            <a:r>
              <a:rPr lang="en-US" sz="1150" b="1" dirty="0">
                <a:solidFill>
                  <a:srgbClr val="1A3C2B"/>
                </a:solidFill>
                <a:latin typeface="Calibri" pitchFamily="34" charset="0"/>
                <a:ea typeface="Calibri" pitchFamily="34" charset="-122"/>
                <a:cs typeface="Calibri" pitchFamily="34" charset="-120"/>
              </a:rPr>
              <a:t>Actionable Public Health Insight</a:t>
            </a:r>
            <a:endParaRPr lang="en-US" sz="1150" dirty="0"/>
          </a:p>
        </p:txBody>
      </p:sp>
      <p:sp>
        <p:nvSpPr>
          <p:cNvPr id="19" name="Text 17"/>
          <p:cNvSpPr/>
          <p:nvPr/>
        </p:nvSpPr>
        <p:spPr>
          <a:xfrm>
            <a:off x="4965192" y="3456432"/>
            <a:ext cx="3822192" cy="1280160"/>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The feature importance ranking directly validates the need for wellness programs targeting smoking cessation and weight management. Addressing these two factors alone would have the greatest actuarial impact on reducing insurance costs.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3C2B"/>
        </a:solidFill>
        <a:effectLst/>
      </p:bgPr>
    </p:bg>
    <p:spTree>
      <p:nvGrpSpPr>
        <p:cNvPr id="1" name=""/>
        <p:cNvGrpSpPr/>
        <p:nvPr/>
      </p:nvGrpSpPr>
      <p:grpSpPr>
        <a:xfrm>
          <a:off x="0" y="0"/>
          <a:ext cx="0" cy="0"/>
          <a:chOff x="0" y="0"/>
          <a:chExt cx="0" cy="0"/>
        </a:xfrm>
      </p:grpSpPr>
      <p:sp>
        <p:nvSpPr>
          <p:cNvPr id="2" name="Shape 0"/>
          <p:cNvSpPr/>
          <p:nvPr/>
        </p:nvSpPr>
        <p:spPr>
          <a:xfrm>
            <a:off x="6492240" y="0"/>
            <a:ext cx="2651760" cy="5143500"/>
          </a:xfrm>
          <a:prstGeom prst="rect">
            <a:avLst/>
          </a:prstGeom>
          <a:solidFill>
            <a:srgbClr val="2C5F2D"/>
          </a:solidFill>
          <a:ln w="12700">
            <a:solidFill>
              <a:srgbClr val="2C5F2D"/>
            </a:solidFill>
            <a:prstDash val="solid"/>
          </a:ln>
        </p:spPr>
        <p:txBody>
          <a:bodyPr/>
          <a:lstStyle/>
          <a:p>
            <a:endParaRPr lang="en-US"/>
          </a:p>
        </p:txBody>
      </p:sp>
      <p:sp>
        <p:nvSpPr>
          <p:cNvPr id="3" name="Shape 1"/>
          <p:cNvSpPr/>
          <p:nvPr/>
        </p:nvSpPr>
        <p:spPr>
          <a:xfrm>
            <a:off x="7223760" y="0"/>
            <a:ext cx="1920240" cy="5143500"/>
          </a:xfrm>
          <a:prstGeom prst="rect">
            <a:avLst/>
          </a:prstGeom>
          <a:solidFill>
            <a:srgbClr val="4A7C59"/>
          </a:solidFill>
          <a:ln w="12700">
            <a:solidFill>
              <a:srgbClr val="4A7C59"/>
            </a:solidFill>
            <a:prstDash val="solid"/>
          </a:ln>
        </p:spPr>
        <p:txBody>
          <a:bodyPr/>
          <a:lstStyle/>
          <a:p>
            <a:endParaRPr lang="en-US"/>
          </a:p>
        </p:txBody>
      </p:sp>
      <p:sp>
        <p:nvSpPr>
          <p:cNvPr id="4" name="Shape 2"/>
          <p:cNvSpPr/>
          <p:nvPr/>
        </p:nvSpPr>
        <p:spPr>
          <a:xfrm>
            <a:off x="457200" y="320040"/>
            <a:ext cx="73152" cy="4480560"/>
          </a:xfrm>
          <a:prstGeom prst="rect">
            <a:avLst/>
          </a:prstGeom>
          <a:solidFill>
            <a:srgbClr val="C8963E"/>
          </a:solidFill>
          <a:ln w="12700">
            <a:solidFill>
              <a:srgbClr val="C8963E"/>
            </a:solidFill>
            <a:prstDash val="solid"/>
          </a:ln>
        </p:spPr>
        <p:txBody>
          <a:bodyPr/>
          <a:lstStyle/>
          <a:p>
            <a:endParaRPr lang="en-US"/>
          </a:p>
        </p:txBody>
      </p:sp>
      <p:sp>
        <p:nvSpPr>
          <p:cNvPr id="7" name="Text 4"/>
          <p:cNvSpPr/>
          <p:nvPr/>
        </p:nvSpPr>
        <p:spPr>
          <a:xfrm>
            <a:off x="685800" y="1115568"/>
            <a:ext cx="5577840" cy="1188720"/>
          </a:xfrm>
          <a:prstGeom prst="rect">
            <a:avLst/>
          </a:prstGeom>
          <a:noFill/>
          <a:ln/>
        </p:spPr>
        <p:txBody>
          <a:bodyPr wrap="square" lIns="0" tIns="0" rIns="0" bIns="0" rtlCol="0" anchor="ctr"/>
          <a:lstStyle/>
          <a:p>
            <a:pPr marL="0" indent="0" algn="l">
              <a:buNone/>
            </a:pPr>
            <a:r>
              <a:rPr lang="en-US" sz="5800" b="1" dirty="0">
                <a:solidFill>
                  <a:srgbClr val="FFFFFF"/>
                </a:solidFill>
                <a:latin typeface="Georgia" pitchFamily="34" charset="0"/>
                <a:ea typeface="Georgia" pitchFamily="34" charset="-122"/>
                <a:cs typeface="Georgia" pitchFamily="34" charset="-120"/>
              </a:rPr>
              <a:t>Thank You</a:t>
            </a:r>
            <a:endParaRPr lang="en-US" sz="5800" dirty="0"/>
          </a:p>
        </p:txBody>
      </p:sp>
      <p:sp>
        <p:nvSpPr>
          <p:cNvPr id="8" name="Text 5"/>
          <p:cNvSpPr/>
          <p:nvPr/>
        </p:nvSpPr>
        <p:spPr>
          <a:xfrm>
            <a:off x="685800" y="2395728"/>
            <a:ext cx="5486400" cy="594360"/>
          </a:xfrm>
          <a:prstGeom prst="rect">
            <a:avLst/>
          </a:prstGeom>
          <a:noFill/>
          <a:ln/>
        </p:spPr>
        <p:txBody>
          <a:bodyPr wrap="square" lIns="0" tIns="0" rIns="0" bIns="0" rtlCol="0" anchor="ctr"/>
          <a:lstStyle/>
          <a:p>
            <a:pPr marL="0" indent="0" algn="l">
              <a:buNone/>
            </a:pPr>
            <a:r>
              <a:rPr lang="en-US" sz="2400" dirty="0">
                <a:solidFill>
                  <a:srgbClr val="C8963E"/>
                </a:solidFill>
                <a:latin typeface="Georgia" pitchFamily="34" charset="0"/>
                <a:ea typeface="Georgia" pitchFamily="34" charset="-122"/>
                <a:cs typeface="Georgia" pitchFamily="34" charset="-120"/>
              </a:rPr>
              <a:t>Any Questions?</a:t>
            </a:r>
            <a:endParaRPr lang="en-US" sz="2400" dirty="0"/>
          </a:p>
        </p:txBody>
      </p:sp>
      <p:sp>
        <p:nvSpPr>
          <p:cNvPr id="9" name="Shape 6"/>
          <p:cNvSpPr/>
          <p:nvPr/>
        </p:nvSpPr>
        <p:spPr>
          <a:xfrm>
            <a:off x="685800" y="3127248"/>
            <a:ext cx="1261872" cy="841248"/>
          </a:xfrm>
          <a:prstGeom prst="rect">
            <a:avLst/>
          </a:prstGeom>
          <a:solidFill>
            <a:srgbClr val="2C5F2D"/>
          </a:solidFill>
          <a:ln w="12700">
            <a:solidFill>
              <a:srgbClr val="2C5F2D"/>
            </a:solidFill>
            <a:prstDash val="solid"/>
          </a:ln>
        </p:spPr>
        <p:txBody>
          <a:bodyPr/>
          <a:lstStyle/>
          <a:p>
            <a:endParaRPr lang="en-US"/>
          </a:p>
        </p:txBody>
      </p:sp>
      <p:sp>
        <p:nvSpPr>
          <p:cNvPr id="10" name="Text 7"/>
          <p:cNvSpPr/>
          <p:nvPr/>
        </p:nvSpPr>
        <p:spPr>
          <a:xfrm>
            <a:off x="685800" y="3145536"/>
            <a:ext cx="1261872" cy="475488"/>
          </a:xfrm>
          <a:prstGeom prst="rect">
            <a:avLst/>
          </a:prstGeom>
          <a:noFill/>
          <a:ln/>
        </p:spPr>
        <p:txBody>
          <a:bodyPr wrap="square" lIns="0" tIns="0" rIns="0" bIns="0" rtlCol="0" anchor="ctr"/>
          <a:lstStyle/>
          <a:p>
            <a:pPr marL="0" indent="0" algn="ctr">
              <a:buNone/>
            </a:pPr>
            <a:r>
              <a:rPr lang="en-US" sz="1700" b="1" dirty="0">
                <a:solidFill>
                  <a:srgbClr val="C8963E"/>
                </a:solidFill>
                <a:latin typeface="Georgia" pitchFamily="34" charset="0"/>
                <a:ea typeface="Georgia" pitchFamily="34" charset="-122"/>
                <a:cs typeface="Georgia" pitchFamily="34" charset="-120"/>
              </a:rPr>
              <a:t>0.884</a:t>
            </a:r>
            <a:endParaRPr lang="en-US" sz="1700" dirty="0"/>
          </a:p>
        </p:txBody>
      </p:sp>
      <p:sp>
        <p:nvSpPr>
          <p:cNvPr id="11" name="Text 8"/>
          <p:cNvSpPr/>
          <p:nvPr/>
        </p:nvSpPr>
        <p:spPr>
          <a:xfrm>
            <a:off x="685800" y="3621024"/>
            <a:ext cx="1261872" cy="237744"/>
          </a:xfrm>
          <a:prstGeom prst="rect">
            <a:avLst/>
          </a:prstGeom>
          <a:noFill/>
          <a:ln/>
        </p:spPr>
        <p:txBody>
          <a:bodyPr wrap="square" lIns="0" tIns="0" rIns="0" bIns="0" rtlCol="0" anchor="ctr"/>
          <a:lstStyle/>
          <a:p>
            <a:pPr marL="0" indent="0" algn="ctr">
              <a:buNone/>
            </a:pPr>
            <a:r>
              <a:rPr lang="en-US" sz="900" dirty="0">
                <a:solidFill>
                  <a:srgbClr val="A8C5B5"/>
                </a:solidFill>
                <a:latin typeface="Calibri" pitchFamily="34" charset="0"/>
                <a:ea typeface="Calibri" pitchFamily="34" charset="-122"/>
                <a:cs typeface="Calibri" pitchFamily="34" charset="-120"/>
              </a:rPr>
              <a:t>R² Score</a:t>
            </a:r>
            <a:endParaRPr lang="en-US" sz="900" dirty="0"/>
          </a:p>
        </p:txBody>
      </p:sp>
      <p:sp>
        <p:nvSpPr>
          <p:cNvPr id="12" name="Shape 9"/>
          <p:cNvSpPr/>
          <p:nvPr/>
        </p:nvSpPr>
        <p:spPr>
          <a:xfrm>
            <a:off x="2103120" y="3127248"/>
            <a:ext cx="1261872" cy="841248"/>
          </a:xfrm>
          <a:prstGeom prst="rect">
            <a:avLst/>
          </a:prstGeom>
          <a:solidFill>
            <a:srgbClr val="2C5F2D"/>
          </a:solidFill>
          <a:ln w="12700">
            <a:solidFill>
              <a:srgbClr val="2C5F2D"/>
            </a:solidFill>
            <a:prstDash val="solid"/>
          </a:ln>
        </p:spPr>
        <p:txBody>
          <a:bodyPr/>
          <a:lstStyle/>
          <a:p>
            <a:endParaRPr lang="en-US"/>
          </a:p>
        </p:txBody>
      </p:sp>
      <p:sp>
        <p:nvSpPr>
          <p:cNvPr id="13" name="Text 10"/>
          <p:cNvSpPr/>
          <p:nvPr/>
        </p:nvSpPr>
        <p:spPr>
          <a:xfrm>
            <a:off x="2103120" y="3145536"/>
            <a:ext cx="1261872" cy="475488"/>
          </a:xfrm>
          <a:prstGeom prst="rect">
            <a:avLst/>
          </a:prstGeom>
          <a:noFill/>
          <a:ln/>
        </p:spPr>
        <p:txBody>
          <a:bodyPr wrap="square" lIns="0" tIns="0" rIns="0" bIns="0" rtlCol="0" anchor="ctr"/>
          <a:lstStyle/>
          <a:p>
            <a:pPr marL="0" indent="0" algn="ctr">
              <a:buNone/>
            </a:pPr>
            <a:r>
              <a:rPr lang="en-US" sz="1700" b="1" dirty="0">
                <a:solidFill>
                  <a:srgbClr val="C8963E"/>
                </a:solidFill>
                <a:latin typeface="Georgia" pitchFamily="34" charset="0"/>
                <a:ea typeface="Georgia" pitchFamily="34" charset="-122"/>
                <a:cs typeface="Georgia" pitchFamily="34" charset="-120"/>
              </a:rPr>
              <a:t>$2,545</a:t>
            </a:r>
            <a:endParaRPr lang="en-US" sz="1700" dirty="0"/>
          </a:p>
        </p:txBody>
      </p:sp>
      <p:sp>
        <p:nvSpPr>
          <p:cNvPr id="14" name="Text 11"/>
          <p:cNvSpPr/>
          <p:nvPr/>
        </p:nvSpPr>
        <p:spPr>
          <a:xfrm>
            <a:off x="2103120" y="3621024"/>
            <a:ext cx="1261872" cy="237744"/>
          </a:xfrm>
          <a:prstGeom prst="rect">
            <a:avLst/>
          </a:prstGeom>
          <a:noFill/>
          <a:ln/>
        </p:spPr>
        <p:txBody>
          <a:bodyPr wrap="square" lIns="0" tIns="0" rIns="0" bIns="0" rtlCol="0" anchor="ctr"/>
          <a:lstStyle/>
          <a:p>
            <a:pPr marL="0" indent="0" algn="ctr">
              <a:buNone/>
            </a:pPr>
            <a:r>
              <a:rPr lang="en-US" sz="900" dirty="0">
                <a:solidFill>
                  <a:srgbClr val="A8C5B5"/>
                </a:solidFill>
                <a:latin typeface="Calibri" pitchFamily="34" charset="0"/>
                <a:ea typeface="Calibri" pitchFamily="34" charset="-122"/>
                <a:cs typeface="Calibri" pitchFamily="34" charset="-120"/>
              </a:rPr>
              <a:t>MAE</a:t>
            </a:r>
            <a:endParaRPr lang="en-US" sz="900" dirty="0"/>
          </a:p>
        </p:txBody>
      </p:sp>
      <p:sp>
        <p:nvSpPr>
          <p:cNvPr id="15" name="Shape 12"/>
          <p:cNvSpPr/>
          <p:nvPr/>
        </p:nvSpPr>
        <p:spPr>
          <a:xfrm>
            <a:off x="3520440" y="3127248"/>
            <a:ext cx="1261872" cy="841248"/>
          </a:xfrm>
          <a:prstGeom prst="rect">
            <a:avLst/>
          </a:prstGeom>
          <a:solidFill>
            <a:srgbClr val="2C5F2D"/>
          </a:solidFill>
          <a:ln w="12700">
            <a:solidFill>
              <a:srgbClr val="2C5F2D"/>
            </a:solidFill>
            <a:prstDash val="solid"/>
          </a:ln>
        </p:spPr>
        <p:txBody>
          <a:bodyPr/>
          <a:lstStyle/>
          <a:p>
            <a:endParaRPr lang="en-US"/>
          </a:p>
        </p:txBody>
      </p:sp>
      <p:sp>
        <p:nvSpPr>
          <p:cNvPr id="16" name="Text 13"/>
          <p:cNvSpPr/>
          <p:nvPr/>
        </p:nvSpPr>
        <p:spPr>
          <a:xfrm>
            <a:off x="3520440" y="3145536"/>
            <a:ext cx="1261872" cy="475488"/>
          </a:xfrm>
          <a:prstGeom prst="rect">
            <a:avLst/>
          </a:prstGeom>
          <a:noFill/>
          <a:ln/>
        </p:spPr>
        <p:txBody>
          <a:bodyPr wrap="square" lIns="0" tIns="0" rIns="0" bIns="0" rtlCol="0" anchor="ctr"/>
          <a:lstStyle/>
          <a:p>
            <a:pPr marL="0" indent="0" algn="ctr">
              <a:buNone/>
            </a:pPr>
            <a:r>
              <a:rPr lang="en-US" sz="1700" b="1" dirty="0">
                <a:solidFill>
                  <a:srgbClr val="C8963E"/>
                </a:solidFill>
                <a:latin typeface="Georgia" pitchFamily="34" charset="0"/>
                <a:ea typeface="Georgia" pitchFamily="34" charset="-122"/>
                <a:cs typeface="Georgia" pitchFamily="34" charset="-120"/>
              </a:rPr>
              <a:t>$4,618</a:t>
            </a:r>
            <a:endParaRPr lang="en-US" sz="1700" dirty="0"/>
          </a:p>
        </p:txBody>
      </p:sp>
      <p:sp>
        <p:nvSpPr>
          <p:cNvPr id="17" name="Text 14"/>
          <p:cNvSpPr/>
          <p:nvPr/>
        </p:nvSpPr>
        <p:spPr>
          <a:xfrm>
            <a:off x="3520440" y="3621024"/>
            <a:ext cx="1261872" cy="237744"/>
          </a:xfrm>
          <a:prstGeom prst="rect">
            <a:avLst/>
          </a:prstGeom>
          <a:noFill/>
          <a:ln/>
        </p:spPr>
        <p:txBody>
          <a:bodyPr wrap="square" lIns="0" tIns="0" rIns="0" bIns="0" rtlCol="0" anchor="ctr"/>
          <a:lstStyle/>
          <a:p>
            <a:pPr marL="0" indent="0" algn="ctr">
              <a:buNone/>
            </a:pPr>
            <a:r>
              <a:rPr lang="en-US" sz="900" dirty="0">
                <a:solidFill>
                  <a:srgbClr val="A8C5B5"/>
                </a:solidFill>
                <a:latin typeface="Calibri" pitchFamily="34" charset="0"/>
                <a:ea typeface="Calibri" pitchFamily="34" charset="-122"/>
                <a:cs typeface="Calibri" pitchFamily="34" charset="-120"/>
              </a:rPr>
              <a:t>RMSE</a:t>
            </a:r>
            <a:endParaRPr lang="en-US" sz="900" dirty="0"/>
          </a:p>
        </p:txBody>
      </p:sp>
      <p:sp>
        <p:nvSpPr>
          <p:cNvPr id="18" name="Shape 15"/>
          <p:cNvSpPr/>
          <p:nvPr/>
        </p:nvSpPr>
        <p:spPr>
          <a:xfrm>
            <a:off x="4937760" y="3127248"/>
            <a:ext cx="1261872" cy="841248"/>
          </a:xfrm>
          <a:prstGeom prst="rect">
            <a:avLst/>
          </a:prstGeom>
          <a:solidFill>
            <a:srgbClr val="2C5F2D"/>
          </a:solidFill>
          <a:ln w="12700">
            <a:solidFill>
              <a:srgbClr val="2C5F2D"/>
            </a:solidFill>
            <a:prstDash val="solid"/>
          </a:ln>
        </p:spPr>
        <p:txBody>
          <a:bodyPr/>
          <a:lstStyle/>
          <a:p>
            <a:endParaRPr lang="en-US"/>
          </a:p>
        </p:txBody>
      </p:sp>
      <p:sp>
        <p:nvSpPr>
          <p:cNvPr id="19" name="Text 16"/>
          <p:cNvSpPr/>
          <p:nvPr/>
        </p:nvSpPr>
        <p:spPr>
          <a:xfrm>
            <a:off x="4937760" y="3145536"/>
            <a:ext cx="1261872" cy="475488"/>
          </a:xfrm>
          <a:prstGeom prst="rect">
            <a:avLst/>
          </a:prstGeom>
          <a:noFill/>
          <a:ln/>
        </p:spPr>
        <p:txBody>
          <a:bodyPr wrap="square" lIns="0" tIns="0" rIns="0" bIns="0" rtlCol="0" anchor="ctr"/>
          <a:lstStyle/>
          <a:p>
            <a:pPr marL="0" indent="0" algn="ctr">
              <a:buNone/>
            </a:pPr>
            <a:r>
              <a:rPr lang="en-US" sz="1700" b="1" dirty="0">
                <a:solidFill>
                  <a:srgbClr val="C8963E"/>
                </a:solidFill>
                <a:latin typeface="Georgia" pitchFamily="34" charset="0"/>
                <a:ea typeface="Georgia" pitchFamily="34" charset="-122"/>
                <a:cs typeface="Georgia" pitchFamily="34" charset="-120"/>
              </a:rPr>
              <a:t>200</a:t>
            </a:r>
            <a:endParaRPr lang="en-US" sz="1700" dirty="0"/>
          </a:p>
        </p:txBody>
      </p:sp>
      <p:sp>
        <p:nvSpPr>
          <p:cNvPr id="20" name="Text 17"/>
          <p:cNvSpPr/>
          <p:nvPr/>
        </p:nvSpPr>
        <p:spPr>
          <a:xfrm>
            <a:off x="4937760" y="3621024"/>
            <a:ext cx="1261872" cy="237744"/>
          </a:xfrm>
          <a:prstGeom prst="rect">
            <a:avLst/>
          </a:prstGeom>
          <a:noFill/>
          <a:ln/>
        </p:spPr>
        <p:txBody>
          <a:bodyPr wrap="square" lIns="0" tIns="0" rIns="0" bIns="0" rtlCol="0" anchor="ctr"/>
          <a:lstStyle/>
          <a:p>
            <a:pPr marL="0" indent="0" algn="ctr">
              <a:buNone/>
            </a:pPr>
            <a:r>
              <a:rPr lang="en-US" sz="900" dirty="0">
                <a:solidFill>
                  <a:srgbClr val="A8C5B5"/>
                </a:solidFill>
                <a:latin typeface="Calibri" pitchFamily="34" charset="0"/>
                <a:ea typeface="Calibri" pitchFamily="34" charset="-122"/>
                <a:cs typeface="Calibri" pitchFamily="34" charset="-120"/>
              </a:rPr>
              <a:t>Trees</a:t>
            </a:r>
            <a:endParaRPr lang="en-US" sz="900" dirty="0"/>
          </a:p>
        </p:txBody>
      </p:sp>
      <p:sp>
        <p:nvSpPr>
          <p:cNvPr id="21" name="Shape 18"/>
          <p:cNvSpPr/>
          <p:nvPr/>
        </p:nvSpPr>
        <p:spPr>
          <a:xfrm>
            <a:off x="685800" y="4041648"/>
            <a:ext cx="5303520" cy="27432"/>
          </a:xfrm>
          <a:prstGeom prst="rect">
            <a:avLst/>
          </a:prstGeom>
          <a:solidFill>
            <a:srgbClr val="3A6B4A"/>
          </a:solidFill>
          <a:ln w="12700">
            <a:solidFill>
              <a:srgbClr val="3A6B4A"/>
            </a:solidFill>
            <a:prstDash val="solid"/>
          </a:ln>
        </p:spPr>
        <p:txBody>
          <a:bodyPr/>
          <a:lstStyle/>
          <a:p>
            <a:endParaRPr lang="en-US"/>
          </a:p>
        </p:txBody>
      </p:sp>
      <p:sp>
        <p:nvSpPr>
          <p:cNvPr id="22" name="Text 19"/>
          <p:cNvSpPr/>
          <p:nvPr/>
        </p:nvSpPr>
        <p:spPr>
          <a:xfrm>
            <a:off x="685800" y="4114800"/>
            <a:ext cx="5577840" cy="256032"/>
          </a:xfrm>
          <a:prstGeom prst="rect">
            <a:avLst/>
          </a:prstGeom>
          <a:noFill/>
          <a:ln/>
        </p:spPr>
        <p:txBody>
          <a:bodyPr wrap="square" lIns="0" tIns="0" rIns="0" bIns="0"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Abdulrahman Bajunaid  ·  Mansour Alhenaki  ·  Yasir Aladwani</a:t>
            </a:r>
            <a:endParaRPr lang="en-US" sz="1100" dirty="0"/>
          </a:p>
        </p:txBody>
      </p:sp>
      <p:sp>
        <p:nvSpPr>
          <p:cNvPr id="23" name="Text 20"/>
          <p:cNvSpPr/>
          <p:nvPr/>
        </p:nvSpPr>
        <p:spPr>
          <a:xfrm>
            <a:off x="685800" y="4434840"/>
            <a:ext cx="5577840" cy="228600"/>
          </a:xfrm>
          <a:prstGeom prst="rect">
            <a:avLst/>
          </a:prstGeom>
          <a:noFill/>
          <a:ln/>
        </p:spPr>
        <p:txBody>
          <a:bodyPr wrap="square" lIns="0" tIns="0" rIns="0" bIns="0" rtlCol="0" anchor="ctr"/>
          <a:lstStyle/>
          <a:p>
            <a:pPr marL="0" indent="0" algn="l">
              <a:buNone/>
            </a:pPr>
            <a:r>
              <a:rPr lang="en-US" sz="950" dirty="0">
                <a:solidFill>
                  <a:srgbClr val="A8C5B5"/>
                </a:solidFill>
                <a:latin typeface="Calibri" pitchFamily="34" charset="0"/>
                <a:ea typeface="Calibri" pitchFamily="34" charset="-122"/>
                <a:cs typeface="Calibri" pitchFamily="34" charset="-120"/>
              </a:rPr>
              <a:t>Instructor: Khulud Alshammari   |   TA: Abdullah Alharbi</a:t>
            </a:r>
            <a:endParaRPr lang="en-US" sz="950" dirty="0"/>
          </a:p>
        </p:txBody>
      </p:sp>
      <p:pic>
        <p:nvPicPr>
          <p:cNvPr id="25" name="Picture 2" descr="شعار أكاديمية طويق | شعارات المملكة">
            <a:extLst>
              <a:ext uri="{FF2B5EF4-FFF2-40B4-BE49-F238E27FC236}">
                <a16:creationId xmlns:a16="http://schemas.microsoft.com/office/drawing/2014/main" id="{B0873136-F032-5A0F-3BBD-ECE69F746B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02" t="28893" r="18297" b="26764"/>
          <a:stretch>
            <a:fillRect/>
          </a:stretch>
        </p:blipFill>
        <p:spPr bwMode="auto">
          <a:xfrm>
            <a:off x="946264" y="192642"/>
            <a:ext cx="1253007" cy="8875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2443</Words>
  <Application>Microsoft Office PowerPoint</Application>
  <PresentationFormat>On-screen Show (16:9)</PresentationFormat>
  <Paragraphs>272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Forest Regression – Medical Insurance Cost Prediction</dc:title>
  <dc:subject>PptxGenJS Presentation</dc:subject>
  <dc:creator>PptxGenJS</dc:creator>
  <cp:lastModifiedBy>Hmnae B</cp:lastModifiedBy>
  <cp:revision>2</cp:revision>
  <dcterms:created xsi:type="dcterms:W3CDTF">2026-03-10T23:34:31Z</dcterms:created>
  <dcterms:modified xsi:type="dcterms:W3CDTF">2026-03-10T23:37:27Z</dcterms:modified>
</cp:coreProperties>
</file>